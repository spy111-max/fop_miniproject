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71" r:id="rId6"/>
    <p:sldId id="261" r:id="rId7"/>
    <p:sldId id="268" r:id="rId8"/>
    <p:sldId id="262" r:id="rId9"/>
    <p:sldId id="263" r:id="rId10"/>
    <p:sldId id="264" r:id="rId11"/>
    <p:sldId id="266" r:id="rId12"/>
    <p:sldId id="267" r:id="rId13"/>
  </p:sldIdLst>
  <p:sldSz cx="18288000" cy="10287000"/>
  <p:notesSz cx="6858000" cy="9144000"/>
  <p:embeddedFontLst>
    <p:embeddedFont>
      <p:font typeface="Helvetica World" panose="020B0604020202020204" charset="-128"/>
      <p:regular r:id="rId15"/>
    </p:embeddedFont>
    <p:embeddedFont>
      <p:font typeface="Helvetica World Bold" panose="020B0604020202020204" charset="-128"/>
      <p:regular r:id="rId16"/>
    </p:embeddedFont>
    <p:embeddedFont>
      <p:font typeface="Garet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3C1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3E1B29-ACC3-4853-2552-A446A586BC56}" v="207" dt="2026-03-30T10:56:28.290"/>
    <p1510:client id="{E307B508-BBEA-21A0-652C-15687E37C49C}" v="191" dt="2026-03-30T10:56:03.7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6T17:04:56.696"/>
    </inkml:context>
    <inkml:brush xml:id="br0">
      <inkml:brushProperty name="width" value="0.1" units="cm"/>
      <inkml:brushProperty name="height" value="0.1" units="cm"/>
    </inkml:brush>
  </inkml:definitions>
  <inkml:trace contextRef="#ctx0" brushRef="#br0">19711 6249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626EF5-1C40-4244-A564-F8EC5E29B865}" type="datetimeFigureOut">
              <a:rPr lang="en-IN" smtClean="0"/>
              <a:t>30-03-2026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EDA128-BC0F-4695-978E-B530DD507FF7}" type="slidenum">
              <a:rPr lang="en-IN" smtClean="0"/>
              <a:t>‹#›</a:t>
            </a:fld>
            <a:endParaRPr lang="en-IN"/>
          </a:p>
        </p:txBody>
      </p:sp>
    </p:spTree>
    <p:extLst>
      <p:ext uri="{BB962C8B-B14F-4D97-AF65-F5344CB8AC3E}">
        <p14:creationId xmlns:p14="http://schemas.microsoft.com/office/powerpoint/2010/main" val="1856041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2EDA128-BC0F-4695-978E-B530DD507FF7}" type="slidenum">
              <a:rPr lang="en-IN" smtClean="0"/>
              <a:t>10</a:t>
            </a:fld>
            <a:endParaRPr lang="en-IN"/>
          </a:p>
        </p:txBody>
      </p:sp>
    </p:spTree>
    <p:extLst>
      <p:ext uri="{BB962C8B-B14F-4D97-AF65-F5344CB8AC3E}">
        <p14:creationId xmlns:p14="http://schemas.microsoft.com/office/powerpoint/2010/main" val="458837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ustomXml" Target="../ink/ink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grpSp>
        <p:nvGrpSpPr>
          <p:cNvPr id="5" name="Group 5"/>
          <p:cNvGrpSpPr>
            <a:grpSpLocks noChangeAspect="1"/>
          </p:cNvGrpSpPr>
          <p:nvPr/>
        </p:nvGrpSpPr>
        <p:grpSpPr>
          <a:xfrm rot="5400000">
            <a:off x="9296383" y="1330628"/>
            <a:ext cx="8302229" cy="8302196"/>
            <a:chOff x="0" y="0"/>
            <a:chExt cx="6350000" cy="6349975"/>
          </a:xfrm>
        </p:grpSpPr>
        <p:sp>
          <p:nvSpPr>
            <p:cNvPr id="6" name="Freeform 6"/>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A3C1F5"/>
            </a:solidFill>
          </p:spPr>
        </p:sp>
      </p:grpSp>
      <p:grpSp>
        <p:nvGrpSpPr>
          <p:cNvPr id="7" name="Group 7"/>
          <p:cNvGrpSpPr/>
          <p:nvPr/>
        </p:nvGrpSpPr>
        <p:grpSpPr>
          <a:xfrm>
            <a:off x="10004210" y="2038438"/>
            <a:ext cx="6886575" cy="688657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sp>
        <p:nvSpPr>
          <p:cNvPr id="10" name="TextBox 10"/>
          <p:cNvSpPr txBox="1"/>
          <p:nvPr/>
        </p:nvSpPr>
        <p:spPr>
          <a:xfrm>
            <a:off x="815402" y="1714500"/>
            <a:ext cx="8324850" cy="4050982"/>
          </a:xfrm>
          <a:prstGeom prst="rect">
            <a:avLst/>
          </a:prstGeom>
        </p:spPr>
        <p:txBody>
          <a:bodyPr lIns="0" tIns="0" rIns="0" bIns="0" rtlCol="0" anchor="t">
            <a:spAutoFit/>
          </a:bodyPr>
          <a:lstStyle/>
          <a:p>
            <a:pPr marL="0" lvl="0" indent="0" algn="l">
              <a:lnSpc>
                <a:spcPts val="10560"/>
              </a:lnSpc>
            </a:pPr>
            <a:r>
              <a:rPr lang="en-US" sz="9600" b="1" spc="-240">
                <a:solidFill>
                  <a:srgbClr val="FFFFFF"/>
                </a:solidFill>
                <a:latin typeface="Garet Bold"/>
                <a:ea typeface="Garet Bold"/>
                <a:cs typeface="Garet Bold"/>
                <a:sym typeface="Garet Bold"/>
              </a:rPr>
              <a:t>Bank Management System in C</a:t>
            </a:r>
          </a:p>
        </p:txBody>
      </p:sp>
      <p:sp>
        <p:nvSpPr>
          <p:cNvPr id="12" name="TextBox 12"/>
          <p:cNvSpPr txBox="1"/>
          <p:nvPr/>
        </p:nvSpPr>
        <p:spPr>
          <a:xfrm>
            <a:off x="2105025" y="794385"/>
            <a:ext cx="5448300" cy="668655"/>
          </a:xfrm>
          <a:prstGeom prst="rect">
            <a:avLst/>
          </a:prstGeom>
        </p:spPr>
        <p:txBody>
          <a:bodyPr lIns="0" tIns="0" rIns="0" bIns="0" rtlCol="0" anchor="t">
            <a:spAutoFit/>
          </a:bodyPr>
          <a:lstStyle/>
          <a:p>
            <a:pPr marL="0" lvl="0" indent="0" algn="l">
              <a:lnSpc>
                <a:spcPts val="2640"/>
              </a:lnSpc>
            </a:pPr>
            <a:r>
              <a:rPr lang="en-US" sz="2400" b="1" spc="60">
                <a:solidFill>
                  <a:srgbClr val="A3C1F5"/>
                </a:solidFill>
                <a:latin typeface="Garet Bold"/>
                <a:ea typeface="Garet Bold"/>
                <a:cs typeface="Garet Bold"/>
                <a:sym typeface="Garet Bold"/>
              </a:rPr>
              <a:t>BANK MANAGEMENT SYSTEM PROJECT</a:t>
            </a:r>
          </a:p>
        </p:txBody>
      </p:sp>
      <p:sp>
        <p:nvSpPr>
          <p:cNvPr id="14" name="TextBox 13">
            <a:extLst>
              <a:ext uri="{FF2B5EF4-FFF2-40B4-BE49-F238E27FC236}">
                <a16:creationId xmlns:a16="http://schemas.microsoft.com/office/drawing/2014/main" id="{1FAB4F76-98EF-29C2-37ED-D66418E6AD86}"/>
              </a:ext>
            </a:extLst>
          </p:cNvPr>
          <p:cNvSpPr txBox="1"/>
          <p:nvPr/>
        </p:nvSpPr>
        <p:spPr>
          <a:xfrm>
            <a:off x="550114" y="6362700"/>
            <a:ext cx="11362162" cy="4524315"/>
          </a:xfrm>
          <a:prstGeom prst="rect">
            <a:avLst/>
          </a:prstGeom>
          <a:noFill/>
        </p:spPr>
        <p:txBody>
          <a:bodyPr wrap="square" lIns="91440" tIns="45720" rIns="91440" bIns="45720" rtlCol="0" anchor="t">
            <a:spAutoFit/>
          </a:bodyPr>
          <a:lstStyle/>
          <a:p>
            <a:r>
              <a:rPr lang="en-US" dirty="0"/>
              <a:t>                                                                    </a:t>
            </a:r>
            <a:r>
              <a:rPr lang="en-US" sz="3600">
                <a:solidFill>
                  <a:schemeClr val="bg1"/>
                </a:solidFill>
              </a:rPr>
              <a:t>Submitted by-</a:t>
            </a:r>
          </a:p>
          <a:p>
            <a:r>
              <a:rPr lang="en-US" sz="3600" dirty="0">
                <a:solidFill>
                  <a:schemeClr val="bg1"/>
                </a:solidFill>
              </a:rPr>
              <a:t>Sunny Jaiswal</a:t>
            </a:r>
            <a:r>
              <a:rPr lang="en-IN" sz="3600">
                <a:solidFill>
                  <a:schemeClr val="bg1"/>
                </a:solidFill>
              </a:rPr>
              <a:t>                          (1262253496)</a:t>
            </a:r>
            <a:endParaRPr lang="en-IN" sz="3600">
              <a:solidFill>
                <a:schemeClr val="bg1"/>
              </a:solidFill>
              <a:ea typeface="Calibri"/>
              <a:cs typeface="Calibri"/>
            </a:endParaRPr>
          </a:p>
          <a:p>
            <a:r>
              <a:rPr lang="en-IN" sz="3600" dirty="0">
                <a:solidFill>
                  <a:schemeClr val="bg1"/>
                </a:solidFill>
              </a:rPr>
              <a:t>Rehan </a:t>
            </a:r>
            <a:r>
              <a:rPr lang="en-IN" sz="3600" err="1">
                <a:solidFill>
                  <a:schemeClr val="bg1"/>
                </a:solidFill>
              </a:rPr>
              <a:t>Adatiya</a:t>
            </a:r>
            <a:r>
              <a:rPr lang="en-IN" sz="3600">
                <a:solidFill>
                  <a:schemeClr val="bg1"/>
                </a:solidFill>
              </a:rPr>
              <a:t>                        (1262253083)</a:t>
            </a:r>
            <a:endParaRPr lang="en-IN" sz="3600">
              <a:solidFill>
                <a:schemeClr val="bg1"/>
              </a:solidFill>
              <a:ea typeface="Calibri"/>
              <a:cs typeface="Calibri"/>
            </a:endParaRPr>
          </a:p>
          <a:p>
            <a:r>
              <a:rPr lang="en-IN" sz="3600">
                <a:solidFill>
                  <a:schemeClr val="bg1"/>
                </a:solidFill>
              </a:rPr>
              <a:t>Shravani Kakade                              </a:t>
            </a:r>
            <a:r>
              <a:rPr lang="en-IN" sz="3600" dirty="0">
                <a:solidFill>
                  <a:schemeClr val="bg1"/>
                </a:solidFill>
              </a:rPr>
              <a:t> (1262252016)</a:t>
            </a:r>
            <a:endParaRPr lang="en-IN" sz="3600" dirty="0">
              <a:solidFill>
                <a:schemeClr val="bg1"/>
              </a:solidFill>
              <a:ea typeface="Calibri"/>
              <a:cs typeface="Calibri"/>
            </a:endParaRPr>
          </a:p>
          <a:p>
            <a:r>
              <a:rPr lang="en-IN" sz="3600" dirty="0">
                <a:solidFill>
                  <a:schemeClr val="bg1"/>
                </a:solidFill>
              </a:rPr>
              <a:t>Sayali  </a:t>
            </a:r>
            <a:r>
              <a:rPr lang="en-IN" sz="3600" dirty="0" err="1">
                <a:solidFill>
                  <a:schemeClr val="bg1"/>
                </a:solidFill>
              </a:rPr>
              <a:t>Mahabaleshwarkar</a:t>
            </a:r>
            <a:r>
              <a:rPr lang="en-IN" sz="3600">
                <a:solidFill>
                  <a:schemeClr val="bg1"/>
                </a:solidFill>
              </a:rPr>
              <a:t>                 (1262252164)</a:t>
            </a:r>
            <a:endParaRPr lang="en-IN" sz="3600">
              <a:solidFill>
                <a:schemeClr val="bg1"/>
              </a:solidFill>
              <a:ea typeface="Calibri"/>
              <a:cs typeface="Calibri"/>
            </a:endParaRPr>
          </a:p>
          <a:p>
            <a:r>
              <a:rPr lang="en-IN" sz="3600" err="1">
                <a:solidFill>
                  <a:schemeClr val="bg1"/>
                </a:solidFill>
              </a:rPr>
              <a:t>Parakramank</a:t>
            </a:r>
            <a:r>
              <a:rPr lang="en-IN" sz="3600">
                <a:solidFill>
                  <a:schemeClr val="bg1"/>
                </a:solidFill>
              </a:rPr>
              <a:t>                           (1262253536)</a:t>
            </a:r>
            <a:endParaRPr lang="en-IN" sz="3600">
              <a:solidFill>
                <a:schemeClr val="bg1"/>
              </a:solidFill>
              <a:ea typeface="Calibri"/>
              <a:cs typeface="Calibri"/>
            </a:endParaRPr>
          </a:p>
          <a:p>
            <a:endParaRPr lang="en-IN" sz="3600">
              <a:solidFill>
                <a:schemeClr val="bg1"/>
              </a:solidFill>
            </a:endParaRPr>
          </a:p>
          <a:p>
            <a:endParaRPr lang="en-US" sz="360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grpSp>
        <p:nvGrpSpPr>
          <p:cNvPr id="5" name="Group 5"/>
          <p:cNvGrpSpPr/>
          <p:nvPr/>
        </p:nvGrpSpPr>
        <p:grpSpPr>
          <a:xfrm>
            <a:off x="9296400" y="666750"/>
            <a:ext cx="7191375" cy="7200900"/>
            <a:chOff x="0" y="0"/>
            <a:chExt cx="9588500" cy="9601200"/>
          </a:xfrm>
        </p:grpSpPr>
        <p:sp>
          <p:nvSpPr>
            <p:cNvPr id="6" name="TextBox 6"/>
            <p:cNvSpPr txBox="1"/>
            <p:nvPr/>
          </p:nvSpPr>
          <p:spPr>
            <a:xfrm>
              <a:off x="0" y="76200"/>
              <a:ext cx="9588500" cy="1462193"/>
            </a:xfrm>
            <a:prstGeom prst="rect">
              <a:avLst/>
            </a:prstGeom>
          </p:spPr>
          <p:txBody>
            <a:bodyPr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Introduction</a:t>
              </a:r>
            </a:p>
          </p:txBody>
        </p:sp>
        <p:sp>
          <p:nvSpPr>
            <p:cNvPr id="7" name="TextBox 7"/>
            <p:cNvSpPr txBox="1"/>
            <p:nvPr/>
          </p:nvSpPr>
          <p:spPr>
            <a:xfrm>
              <a:off x="0" y="2323676"/>
              <a:ext cx="9588500" cy="7277524"/>
            </a:xfrm>
            <a:prstGeom prst="rect">
              <a:avLst/>
            </a:prstGeom>
          </p:spPr>
          <p:txBody>
            <a:bodyPr lIns="0" tIns="0" rIns="0" bIns="0" rtlCol="0" anchor="t">
              <a:spAutoFit/>
            </a:bodyPr>
            <a:lstStyle/>
            <a:p>
              <a:pPr marL="0" lvl="0" indent="0" algn="l">
                <a:lnSpc>
                  <a:spcPts val="3919"/>
                </a:lnSpc>
              </a:pPr>
              <a:r>
                <a:rPr lang="en-US" sz="2799">
                  <a:solidFill>
                    <a:srgbClr val="FFFFFF"/>
                  </a:solidFill>
                  <a:latin typeface="Helvetica World"/>
                  <a:ea typeface="Helvetica World"/>
                  <a:cs typeface="Helvetica World"/>
                  <a:sym typeface="Helvetica World"/>
                </a:rPr>
                <a:t>The </a:t>
              </a:r>
              <a:r>
                <a:rPr lang="en-US" sz="2799" b="1">
                  <a:solidFill>
                    <a:srgbClr val="FFFFFF"/>
                  </a:solidFill>
                  <a:latin typeface="Helvetica World Bold"/>
                  <a:ea typeface="Helvetica World Bold"/>
                  <a:cs typeface="Helvetica World Bold"/>
                  <a:sym typeface="Helvetica World Bold"/>
                </a:rPr>
                <a:t>Bank Management System</a:t>
              </a:r>
              <a:r>
                <a:rPr lang="en-US" sz="2799">
                  <a:solidFill>
                    <a:srgbClr val="FFFFFF"/>
                  </a:solidFill>
                  <a:latin typeface="Helvetica World"/>
                  <a:ea typeface="Helvetica World"/>
                  <a:cs typeface="Helvetica World"/>
                  <a:sym typeface="Helvetica World"/>
                </a:rPr>
                <a:t> is a console-based simulation program designed to mimic real-world banking operations. Developed using the C programming language, this project aims to provide hands-on experience with fundamental programming concepts such as structures, arrays, and functions. It offers insights into how banking transactions are processed while maintaining a clear and organized structure for user accounts.</a:t>
              </a:r>
            </a:p>
          </p:txBody>
        </p:sp>
      </p:grpSp>
      <p:grpSp>
        <p:nvGrpSpPr>
          <p:cNvPr id="8" name="Group 8"/>
          <p:cNvGrpSpPr/>
          <p:nvPr/>
        </p:nvGrpSpPr>
        <p:grpSpPr>
          <a:xfrm>
            <a:off x="414766" y="1318054"/>
            <a:ext cx="8302229" cy="8302194"/>
            <a:chOff x="605117" y="0"/>
            <a:chExt cx="11069639" cy="11069592"/>
          </a:xfrm>
        </p:grpSpPr>
        <p:grpSp>
          <p:nvGrpSpPr>
            <p:cNvPr id="9" name="Group 9"/>
            <p:cNvGrpSpPr>
              <a:grpSpLocks noChangeAspect="1"/>
            </p:cNvGrpSpPr>
            <p:nvPr/>
          </p:nvGrpSpPr>
          <p:grpSpPr>
            <a:xfrm>
              <a:off x="605117" y="0"/>
              <a:ext cx="11069639" cy="11069592"/>
              <a:chOff x="347120" y="0"/>
              <a:chExt cx="6350000" cy="6349974"/>
            </a:xfrm>
          </p:grpSpPr>
          <p:sp>
            <p:nvSpPr>
              <p:cNvPr id="10" name="Freeform 10"/>
              <p:cNvSpPr/>
              <p:nvPr/>
            </p:nvSpPr>
            <p:spPr>
              <a:xfrm>
                <a:off x="34712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A3C1F5"/>
              </a:solidFill>
            </p:spPr>
          </p:sp>
        </p:grpSp>
        <p:grpSp>
          <p:nvGrpSpPr>
            <p:cNvPr id="11" name="Group 11"/>
            <p:cNvGrpSpPr/>
            <p:nvPr/>
          </p:nvGrpSpPr>
          <p:grpSpPr>
            <a:xfrm>
              <a:off x="1571299" y="943747"/>
              <a:ext cx="9182100" cy="9182100"/>
              <a:chOff x="55549" y="0"/>
              <a:chExt cx="812800" cy="812800"/>
            </a:xfrm>
          </p:grpSpPr>
          <p:sp>
            <p:nvSpPr>
              <p:cNvPr id="12" name="Freeform 12"/>
              <p:cNvSpPr/>
              <p:nvPr/>
            </p:nvSpPr>
            <p:spPr>
              <a:xfrm>
                <a:off x="55549"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11506200" cy="1077595"/>
          </a:xfrm>
          <a:prstGeom prst="rect">
            <a:avLst/>
          </a:prstGeom>
        </p:spPr>
        <p:txBody>
          <a:bodyPr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Objectives</a:t>
            </a:r>
          </a:p>
        </p:txBody>
      </p:sp>
      <p:grpSp>
        <p:nvGrpSpPr>
          <p:cNvPr id="3" name="Group 3"/>
          <p:cNvGrpSpPr/>
          <p:nvPr/>
        </p:nvGrpSpPr>
        <p:grpSpPr>
          <a:xfrm>
            <a:off x="666750" y="4205288"/>
            <a:ext cx="4850466" cy="3135820"/>
            <a:chOff x="0" y="-57149"/>
            <a:chExt cx="6467288" cy="4181094"/>
          </a:xfrm>
        </p:grpSpPr>
        <p:sp>
          <p:nvSpPr>
            <p:cNvPr id="4" name="TextBox 4"/>
            <p:cNvSpPr txBox="1"/>
            <p:nvPr/>
          </p:nvSpPr>
          <p:spPr>
            <a:xfrm>
              <a:off x="0" y="-57149"/>
              <a:ext cx="5346700" cy="666849"/>
            </a:xfrm>
            <a:prstGeom prst="rect">
              <a:avLst/>
            </a:prstGeom>
          </p:spPr>
          <p:txBody>
            <a:bodyPr lIns="0" tIns="0" rIns="0" bIns="0" rtlCol="0" anchor="t">
              <a:spAutoFit/>
            </a:bodyPr>
            <a:lstStyle/>
            <a:p>
              <a:pPr marL="0" lvl="0" indent="0" algn="l">
                <a:lnSpc>
                  <a:spcPts val="3919"/>
                </a:lnSpc>
              </a:pPr>
              <a:r>
                <a:rPr lang="en-US" sz="4000" b="1">
                  <a:solidFill>
                    <a:srgbClr val="A3C1F5"/>
                  </a:solidFill>
                  <a:latin typeface="Helvetica World Bold"/>
                  <a:ea typeface="Helvetica World Bold"/>
                  <a:cs typeface="Helvetica World Bold"/>
                  <a:sym typeface="Helvetica World Bold"/>
                </a:rPr>
                <a:t>Learning</a:t>
              </a:r>
            </a:p>
          </p:txBody>
        </p:sp>
        <p:sp>
          <p:nvSpPr>
            <p:cNvPr id="5" name="TextBox 5"/>
            <p:cNvSpPr txBox="1"/>
            <p:nvPr/>
          </p:nvSpPr>
          <p:spPr>
            <a:xfrm>
              <a:off x="0" y="818938"/>
              <a:ext cx="6467288" cy="3305007"/>
            </a:xfrm>
            <a:prstGeom prst="rect">
              <a:avLst/>
            </a:prstGeom>
          </p:spPr>
          <p:txBody>
            <a:bodyPr wrap="square" lIns="0" tIns="0" rIns="0" bIns="0" rtlCol="0" anchor="t">
              <a:spAutoFit/>
            </a:bodyPr>
            <a:lstStyle/>
            <a:p>
              <a:pPr marL="0" lvl="0" indent="0" algn="l">
                <a:lnSpc>
                  <a:spcPts val="3919"/>
                </a:lnSpc>
              </a:pPr>
              <a:r>
                <a:rPr lang="en-US" sz="3200">
                  <a:solidFill>
                    <a:srgbClr val="FFFFFF"/>
                  </a:solidFill>
                  <a:latin typeface="Helvetica World"/>
                  <a:ea typeface="Helvetica World"/>
                  <a:cs typeface="Helvetica World"/>
                  <a:sym typeface="Helvetica World"/>
                </a:rPr>
                <a:t>Understand essential </a:t>
              </a:r>
              <a:r>
                <a:rPr lang="en-US" sz="3200" b="1">
                  <a:solidFill>
                    <a:srgbClr val="FFFFFF"/>
                  </a:solidFill>
                  <a:latin typeface="Helvetica World Bold"/>
                  <a:ea typeface="Helvetica World Bold"/>
                  <a:cs typeface="Helvetica World Bold"/>
                  <a:sym typeface="Helvetica World Bold"/>
                </a:rPr>
                <a:t>C programming</a:t>
              </a:r>
              <a:r>
                <a:rPr lang="en-US" sz="3200">
                  <a:solidFill>
                    <a:srgbClr val="FFFFFF"/>
                  </a:solidFill>
                  <a:latin typeface="Helvetica World"/>
                  <a:ea typeface="Helvetica World"/>
                  <a:cs typeface="Helvetica World"/>
                  <a:sym typeface="Helvetica World"/>
                </a:rPr>
                <a:t> concepts utilized in the bank management simulation project effectively.</a:t>
              </a:r>
              <a:endParaRPr lang="en-US" sz="3200">
                <a:solidFill>
                  <a:srgbClr val="FFFFFF"/>
                </a:solidFill>
                <a:latin typeface="Helvetica World"/>
                <a:ea typeface="Helvetica World"/>
                <a:cs typeface="Helvetica World"/>
              </a:endParaRPr>
            </a:p>
          </p:txBody>
        </p:sp>
      </p:grpSp>
      <p:grpSp>
        <p:nvGrpSpPr>
          <p:cNvPr id="6" name="Group 6"/>
          <p:cNvGrpSpPr/>
          <p:nvPr/>
        </p:nvGrpSpPr>
        <p:grpSpPr>
          <a:xfrm>
            <a:off x="6419850" y="4205288"/>
            <a:ext cx="4917701" cy="3135820"/>
            <a:chOff x="0" y="-57150"/>
            <a:chExt cx="6556935" cy="4181095"/>
          </a:xfrm>
        </p:grpSpPr>
        <p:sp>
          <p:nvSpPr>
            <p:cNvPr id="7" name="TextBox 7"/>
            <p:cNvSpPr txBox="1"/>
            <p:nvPr/>
          </p:nvSpPr>
          <p:spPr>
            <a:xfrm>
              <a:off x="0" y="-57150"/>
              <a:ext cx="5346700" cy="673524"/>
            </a:xfrm>
            <a:prstGeom prst="rect">
              <a:avLst/>
            </a:prstGeom>
          </p:spPr>
          <p:txBody>
            <a:bodyPr lIns="0" tIns="0" rIns="0" bIns="0" rtlCol="0" anchor="t">
              <a:spAutoFit/>
            </a:bodyPr>
            <a:lstStyle/>
            <a:p>
              <a:pPr marL="0" lvl="0" indent="0" algn="l">
                <a:lnSpc>
                  <a:spcPts val="3919"/>
                </a:lnSpc>
              </a:pPr>
              <a:r>
                <a:rPr lang="en-US" sz="4000" b="1">
                  <a:solidFill>
                    <a:srgbClr val="A3C1F5"/>
                  </a:solidFill>
                  <a:latin typeface="Helvetica World Bold"/>
                  <a:ea typeface="Helvetica World Bold"/>
                  <a:cs typeface="Helvetica World Bold"/>
                  <a:sym typeface="Helvetica World Bold"/>
                </a:rPr>
                <a:t>Implementation</a:t>
              </a:r>
            </a:p>
          </p:txBody>
        </p:sp>
        <p:sp>
          <p:nvSpPr>
            <p:cNvPr id="8" name="TextBox 8"/>
            <p:cNvSpPr txBox="1"/>
            <p:nvPr/>
          </p:nvSpPr>
          <p:spPr>
            <a:xfrm>
              <a:off x="0" y="818937"/>
              <a:ext cx="6556935" cy="3305008"/>
            </a:xfrm>
            <a:prstGeom prst="rect">
              <a:avLst/>
            </a:prstGeom>
          </p:spPr>
          <p:txBody>
            <a:bodyPr wrap="square" lIns="0" tIns="0" rIns="0" bIns="0" rtlCol="0" anchor="t">
              <a:spAutoFit/>
            </a:bodyPr>
            <a:lstStyle/>
            <a:p>
              <a:pPr marL="0" lvl="0" indent="0" algn="l">
                <a:lnSpc>
                  <a:spcPts val="3919"/>
                </a:lnSpc>
              </a:pPr>
              <a:r>
                <a:rPr lang="en-US" sz="3200">
                  <a:solidFill>
                    <a:srgbClr val="FFFFFF"/>
                  </a:solidFill>
                  <a:latin typeface="Helvetica World"/>
                  <a:ea typeface="Helvetica World"/>
                  <a:cs typeface="Helvetica World"/>
                  <a:sym typeface="Helvetica World"/>
                </a:rPr>
                <a:t>Implement data structures and functions to create a functional console-based banking application using C</a:t>
              </a:r>
              <a:r>
                <a:rPr lang="en-US" sz="2750">
                  <a:solidFill>
                    <a:srgbClr val="FFFFFF"/>
                  </a:solidFill>
                  <a:latin typeface="Helvetica World"/>
                  <a:ea typeface="Helvetica World"/>
                  <a:cs typeface="Helvetica World"/>
                  <a:sym typeface="Helvetica World"/>
                </a:rPr>
                <a:t>.</a:t>
              </a:r>
            </a:p>
          </p:txBody>
        </p:sp>
      </p:grpSp>
      <p:grpSp>
        <p:nvGrpSpPr>
          <p:cNvPr id="9" name="Group 9"/>
          <p:cNvGrpSpPr/>
          <p:nvPr/>
        </p:nvGrpSpPr>
        <p:grpSpPr>
          <a:xfrm>
            <a:off x="12172950" y="4205288"/>
            <a:ext cx="5472392" cy="3135820"/>
            <a:chOff x="0" y="-57150"/>
            <a:chExt cx="7296523" cy="4181094"/>
          </a:xfrm>
        </p:grpSpPr>
        <p:sp>
          <p:nvSpPr>
            <p:cNvPr id="10" name="TextBox 10"/>
            <p:cNvSpPr txBox="1"/>
            <p:nvPr/>
          </p:nvSpPr>
          <p:spPr>
            <a:xfrm>
              <a:off x="0" y="-57150"/>
              <a:ext cx="5346700" cy="673524"/>
            </a:xfrm>
            <a:prstGeom prst="rect">
              <a:avLst/>
            </a:prstGeom>
          </p:spPr>
          <p:txBody>
            <a:bodyPr lIns="0" tIns="0" rIns="0" bIns="0" rtlCol="0" anchor="t">
              <a:spAutoFit/>
            </a:bodyPr>
            <a:lstStyle/>
            <a:p>
              <a:pPr marL="0" lvl="0" indent="0" algn="l">
                <a:lnSpc>
                  <a:spcPts val="3919"/>
                </a:lnSpc>
              </a:pPr>
              <a:r>
                <a:rPr lang="en-US" sz="4000" b="1">
                  <a:solidFill>
                    <a:srgbClr val="A3C1F5"/>
                  </a:solidFill>
                  <a:latin typeface="Helvetica World Bold"/>
                  <a:ea typeface="Helvetica World Bold"/>
                  <a:cs typeface="Helvetica World Bold"/>
                  <a:sym typeface="Helvetica World Bold"/>
                </a:rPr>
                <a:t>Transactions</a:t>
              </a:r>
            </a:p>
          </p:txBody>
        </p:sp>
        <p:sp>
          <p:nvSpPr>
            <p:cNvPr id="11" name="TextBox 11"/>
            <p:cNvSpPr txBox="1"/>
            <p:nvPr/>
          </p:nvSpPr>
          <p:spPr>
            <a:xfrm>
              <a:off x="0" y="818937"/>
              <a:ext cx="7296523" cy="3305007"/>
            </a:xfrm>
            <a:prstGeom prst="rect">
              <a:avLst/>
            </a:prstGeom>
          </p:spPr>
          <p:txBody>
            <a:bodyPr wrap="square" lIns="0" tIns="0" rIns="0" bIns="0" rtlCol="0" anchor="t">
              <a:spAutoFit/>
            </a:bodyPr>
            <a:lstStyle/>
            <a:p>
              <a:pPr marL="0" lvl="0" indent="0" algn="l">
                <a:lnSpc>
                  <a:spcPts val="3919"/>
                </a:lnSpc>
              </a:pPr>
              <a:r>
                <a:rPr lang="en-US" sz="3200">
                  <a:solidFill>
                    <a:srgbClr val="FFFFFF"/>
                  </a:solidFill>
                  <a:latin typeface="Helvetica World"/>
                  <a:ea typeface="Helvetica World"/>
                  <a:cs typeface="Helvetica World"/>
                  <a:sym typeface="Helvetica World"/>
                </a:rPr>
                <a:t>Handle banking transactions smoothly, ensuring accurate record-keeping and user-friendly interactions within the program.</a:t>
              </a:r>
              <a:endParaRPr lang="en-US" sz="3200">
                <a:solidFill>
                  <a:srgbClr val="FFFFFF"/>
                </a:solidFill>
                <a:latin typeface="Helvetica World"/>
                <a:ea typeface="Helvetica World"/>
                <a:cs typeface="Helvetica World"/>
              </a:endParaRP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11506200" cy="1077595"/>
          </a:xfrm>
          <a:prstGeom prst="rect">
            <a:avLst/>
          </a:prstGeom>
        </p:spPr>
        <p:txBody>
          <a:bodyPr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Technologies</a:t>
            </a:r>
          </a:p>
        </p:txBody>
      </p:sp>
      <p:grpSp>
        <p:nvGrpSpPr>
          <p:cNvPr id="3" name="Group 3"/>
          <p:cNvGrpSpPr/>
          <p:nvPr/>
        </p:nvGrpSpPr>
        <p:grpSpPr>
          <a:xfrm>
            <a:off x="10669827" y="2857955"/>
            <a:ext cx="7342861" cy="3014754"/>
            <a:chOff x="1022959" y="3510940"/>
            <a:chExt cx="9790481" cy="4019671"/>
          </a:xfrm>
        </p:grpSpPr>
        <p:sp>
          <p:nvSpPr>
            <p:cNvPr id="4" name="TextBox 4"/>
            <p:cNvSpPr txBox="1"/>
            <p:nvPr/>
          </p:nvSpPr>
          <p:spPr>
            <a:xfrm>
              <a:off x="1022959" y="3510940"/>
              <a:ext cx="7264400" cy="1165789"/>
            </a:xfrm>
            <a:prstGeom prst="rect">
              <a:avLst/>
            </a:prstGeom>
          </p:spPr>
          <p:txBody>
            <a:bodyPr lIns="0" tIns="0" rIns="0" bIns="0" rtlCol="0" anchor="t">
              <a:spAutoFit/>
            </a:bodyPr>
            <a:lstStyle/>
            <a:p>
              <a:pPr marL="0" lvl="0" indent="0" algn="l">
                <a:lnSpc>
                  <a:spcPts val="3359"/>
                </a:lnSpc>
                <a:spcBef>
                  <a:spcPct val="0"/>
                </a:spcBef>
              </a:pPr>
              <a:r>
                <a:rPr lang="en-US" sz="4000" b="1" u="none" strike="noStrike">
                  <a:solidFill>
                    <a:srgbClr val="A3C1F5"/>
                  </a:solidFill>
                  <a:latin typeface="Helvetica World Bold"/>
                  <a:ea typeface="Helvetica World Bold"/>
                  <a:cs typeface="Helvetica World Bold"/>
                  <a:sym typeface="Helvetica World Bold"/>
                </a:rPr>
                <a:t>Development Environment</a:t>
              </a:r>
            </a:p>
          </p:txBody>
        </p:sp>
        <p:sp>
          <p:nvSpPr>
            <p:cNvPr id="5" name="TextBox 5"/>
            <p:cNvSpPr txBox="1"/>
            <p:nvPr/>
          </p:nvSpPr>
          <p:spPr>
            <a:xfrm>
              <a:off x="1022959" y="5597774"/>
              <a:ext cx="9790481" cy="1932837"/>
            </a:xfrm>
            <a:prstGeom prst="rect">
              <a:avLst/>
            </a:prstGeom>
          </p:spPr>
          <p:txBody>
            <a:bodyPr wrap="square" lIns="0" tIns="0" rIns="0" bIns="0" rtlCol="0" anchor="t">
              <a:spAutoFit/>
            </a:bodyPr>
            <a:lstStyle/>
            <a:p>
              <a:pPr marL="0" lvl="0" indent="0" algn="l">
                <a:lnSpc>
                  <a:spcPts val="2837"/>
                </a:lnSpc>
                <a:spcBef>
                  <a:spcPct val="0"/>
                </a:spcBef>
              </a:pPr>
              <a:r>
                <a:rPr lang="en-US" sz="3200" u="none" strike="noStrike">
                  <a:solidFill>
                    <a:srgbClr val="FFFFFF"/>
                  </a:solidFill>
                  <a:latin typeface="Helvetica World"/>
                  <a:ea typeface="Helvetica World"/>
                  <a:cs typeface="Helvetica World"/>
                  <a:sym typeface="Helvetica World"/>
                </a:rPr>
                <a:t>Utilized </a:t>
              </a:r>
              <a:r>
                <a:rPr lang="en-US" sz="3200" b="1" u="none" strike="noStrike">
                  <a:solidFill>
                    <a:srgbClr val="FFFFFF"/>
                  </a:solidFill>
                  <a:latin typeface="Helvetica World Bold"/>
                  <a:ea typeface="Helvetica World Bold"/>
                  <a:cs typeface="Helvetica World Bold"/>
                  <a:sym typeface="Helvetica World Bold"/>
                </a:rPr>
                <a:t>VS Code</a:t>
              </a:r>
              <a:r>
                <a:rPr lang="en-US" sz="3200" u="none" strike="noStrike">
                  <a:solidFill>
                    <a:srgbClr val="FFFFFF"/>
                  </a:solidFill>
                  <a:latin typeface="Helvetica World"/>
                  <a:ea typeface="Helvetica World"/>
                  <a:cs typeface="Helvetica World"/>
                  <a:sym typeface="Helvetica World"/>
                </a:rPr>
                <a:t> as the integrated development environment, providing powerful features and tools for code editing and debugging.</a:t>
              </a:r>
              <a:endParaRPr lang="en-US" sz="3200" u="none" strike="noStrike">
                <a:solidFill>
                  <a:srgbClr val="FFFFFF"/>
                </a:solidFill>
                <a:latin typeface="Helvetica World"/>
                <a:ea typeface="Helvetica World"/>
                <a:cs typeface="Helvetica World"/>
              </a:endParaRPr>
            </a:p>
          </p:txBody>
        </p:sp>
      </p:grpSp>
      <p:sp>
        <p:nvSpPr>
          <p:cNvPr id="6" name="TextBox 6"/>
          <p:cNvSpPr txBox="1"/>
          <p:nvPr/>
        </p:nvSpPr>
        <p:spPr>
          <a:xfrm>
            <a:off x="9435100" y="2932171"/>
            <a:ext cx="601235" cy="369525"/>
          </a:xfrm>
          <a:prstGeom prst="rect">
            <a:avLst/>
          </a:prstGeom>
        </p:spPr>
        <p:txBody>
          <a:bodyPr wrap="square" lIns="0" tIns="0" rIns="0" bIns="0" rtlCol="0" anchor="t">
            <a:spAutoFit/>
          </a:bodyPr>
          <a:lstStyle/>
          <a:p>
            <a:pPr algn="l">
              <a:lnSpc>
                <a:spcPts val="2837"/>
              </a:lnSpc>
            </a:pPr>
            <a:r>
              <a:rPr lang="en-US" sz="3600" b="1">
                <a:solidFill>
                  <a:srgbClr val="A3C1F5"/>
                </a:solidFill>
                <a:latin typeface="Helvetica World Bold"/>
                <a:ea typeface="Helvetica World Bold"/>
                <a:cs typeface="Helvetica World Bold"/>
                <a:sym typeface="Helvetica World Bold"/>
              </a:rPr>
              <a:t>02</a:t>
            </a:r>
          </a:p>
        </p:txBody>
      </p:sp>
      <p:grpSp>
        <p:nvGrpSpPr>
          <p:cNvPr id="7" name="Group 7"/>
          <p:cNvGrpSpPr/>
          <p:nvPr/>
        </p:nvGrpSpPr>
        <p:grpSpPr>
          <a:xfrm>
            <a:off x="1228335" y="2865002"/>
            <a:ext cx="7248912" cy="2583642"/>
            <a:chOff x="-14067636" y="2099556"/>
            <a:chExt cx="8152153" cy="1634025"/>
          </a:xfrm>
        </p:grpSpPr>
        <p:sp>
          <p:nvSpPr>
            <p:cNvPr id="8" name="TextBox 8"/>
            <p:cNvSpPr txBox="1"/>
            <p:nvPr/>
          </p:nvSpPr>
          <p:spPr>
            <a:xfrm>
              <a:off x="-13408791" y="2099556"/>
              <a:ext cx="7264401" cy="1165789"/>
            </a:xfrm>
            <a:prstGeom prst="rect">
              <a:avLst/>
            </a:prstGeom>
          </p:spPr>
          <p:txBody>
            <a:bodyPr lIns="0" tIns="0" rIns="0" bIns="0" rtlCol="0" anchor="t">
              <a:spAutoFit/>
            </a:bodyPr>
            <a:lstStyle/>
            <a:p>
              <a:pPr marL="0" lvl="0" indent="0" algn="l">
                <a:lnSpc>
                  <a:spcPts val="3359"/>
                </a:lnSpc>
                <a:spcBef>
                  <a:spcPct val="0"/>
                </a:spcBef>
              </a:pPr>
              <a:r>
                <a:rPr lang="en-US" sz="4000" b="1" u="none" strike="noStrike">
                  <a:solidFill>
                    <a:srgbClr val="A3C1F5"/>
                  </a:solidFill>
                  <a:latin typeface="Helvetica World Bold"/>
                  <a:ea typeface="Helvetica World Bold"/>
                  <a:cs typeface="Helvetica World Bold"/>
                  <a:sym typeface="Helvetica World Bold"/>
                </a:rPr>
                <a:t>Programming Language</a:t>
              </a:r>
              <a:endParaRPr lang="en-US" sz="4000" b="1" u="none" strike="noStrike">
                <a:solidFill>
                  <a:srgbClr val="A3C1F5"/>
                </a:solidFill>
                <a:latin typeface="Helvetica World Bold"/>
                <a:ea typeface="Helvetica World Bold"/>
                <a:cs typeface="Helvetica World Bold"/>
              </a:endParaRPr>
            </a:p>
          </p:txBody>
        </p:sp>
        <p:sp>
          <p:nvSpPr>
            <p:cNvPr id="9" name="TextBox 9"/>
            <p:cNvSpPr txBox="1"/>
            <p:nvPr/>
          </p:nvSpPr>
          <p:spPr>
            <a:xfrm>
              <a:off x="-14067636" y="3043859"/>
              <a:ext cx="8152153" cy="689722"/>
            </a:xfrm>
            <a:prstGeom prst="rect">
              <a:avLst/>
            </a:prstGeom>
          </p:spPr>
          <p:txBody>
            <a:bodyPr wrap="square" lIns="0" tIns="0" rIns="0" bIns="0" rtlCol="0" anchor="t">
              <a:spAutoFit/>
            </a:bodyPr>
            <a:lstStyle/>
            <a:p>
              <a:pPr marL="0" lvl="0" indent="0" algn="l">
                <a:lnSpc>
                  <a:spcPts val="2837"/>
                </a:lnSpc>
                <a:spcBef>
                  <a:spcPct val="0"/>
                </a:spcBef>
              </a:pPr>
              <a:r>
                <a:rPr lang="en-US" sz="3200" u="none" strike="noStrike">
                  <a:solidFill>
                    <a:srgbClr val="FFFFFF"/>
                  </a:solidFill>
                  <a:latin typeface="Helvetica World"/>
                  <a:ea typeface="Helvetica World"/>
                  <a:cs typeface="Helvetica World"/>
                  <a:sym typeface="Helvetica World"/>
                </a:rPr>
                <a:t>The project is developed using </a:t>
              </a:r>
              <a:r>
                <a:rPr lang="en-US" sz="3200" b="1" u="none" strike="noStrike">
                  <a:solidFill>
                    <a:srgbClr val="FFFFFF"/>
                  </a:solidFill>
                  <a:latin typeface="Helvetica World Bold"/>
                  <a:ea typeface="Helvetica World Bold"/>
                  <a:cs typeface="Helvetica World Bold"/>
                  <a:sym typeface="Helvetica World Bold"/>
                </a:rPr>
                <a:t>C language</a:t>
              </a:r>
              <a:r>
                <a:rPr lang="en-US" sz="3200" u="none" strike="noStrike">
                  <a:solidFill>
                    <a:srgbClr val="FFFFFF"/>
                  </a:solidFill>
                  <a:latin typeface="Helvetica World"/>
                  <a:ea typeface="Helvetica World"/>
                  <a:cs typeface="Helvetica World"/>
                  <a:sym typeface="Helvetica World"/>
                </a:rPr>
                <a:t>, emphasizing its efficiency and control over system resources.</a:t>
              </a:r>
            </a:p>
          </p:txBody>
        </p:sp>
      </p:grpSp>
      <p:sp>
        <p:nvSpPr>
          <p:cNvPr id="10" name="TextBox 10"/>
          <p:cNvSpPr txBox="1"/>
          <p:nvPr/>
        </p:nvSpPr>
        <p:spPr>
          <a:xfrm>
            <a:off x="1230552" y="2939218"/>
            <a:ext cx="585578" cy="369525"/>
          </a:xfrm>
          <a:prstGeom prst="rect">
            <a:avLst/>
          </a:prstGeom>
        </p:spPr>
        <p:txBody>
          <a:bodyPr lIns="0" tIns="0" rIns="0" bIns="0" rtlCol="0" anchor="t">
            <a:spAutoFit/>
          </a:bodyPr>
          <a:lstStyle/>
          <a:p>
            <a:pPr algn="l">
              <a:lnSpc>
                <a:spcPts val="2837"/>
              </a:lnSpc>
            </a:pPr>
            <a:r>
              <a:rPr lang="en-US" sz="3600" b="1">
                <a:solidFill>
                  <a:srgbClr val="A3C1F5"/>
                </a:solidFill>
                <a:latin typeface="Helvetica World Bold"/>
                <a:ea typeface="Helvetica World Bold"/>
                <a:cs typeface="Helvetica World Bold"/>
                <a:sym typeface="Helvetica World Bold"/>
              </a:rPr>
              <a:t>01</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a:extLst>
            <a:ext uri="{FF2B5EF4-FFF2-40B4-BE49-F238E27FC236}">
              <a16:creationId xmlns:a16="http://schemas.microsoft.com/office/drawing/2014/main" id="{CFAF0FFA-8C96-E532-3881-81ACE620AA18}"/>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959C96CE-60F1-5E12-05B7-40A06D9A8434}"/>
              </a:ext>
            </a:extLst>
          </p:cNvPr>
          <p:cNvGrpSpPr/>
          <p:nvPr/>
        </p:nvGrpSpPr>
        <p:grpSpPr>
          <a:xfrm>
            <a:off x="10669827" y="2857955"/>
            <a:ext cx="7342861" cy="1937536"/>
            <a:chOff x="1022959" y="3510940"/>
            <a:chExt cx="9790481" cy="2583381"/>
          </a:xfrm>
        </p:grpSpPr>
        <p:sp>
          <p:nvSpPr>
            <p:cNvPr id="4" name="TextBox 4">
              <a:extLst>
                <a:ext uri="{FF2B5EF4-FFF2-40B4-BE49-F238E27FC236}">
                  <a16:creationId xmlns:a16="http://schemas.microsoft.com/office/drawing/2014/main" id="{092C78A2-A46D-0462-4E5A-0327BA639F73}"/>
                </a:ext>
              </a:extLst>
            </p:cNvPr>
            <p:cNvSpPr txBox="1"/>
            <p:nvPr/>
          </p:nvSpPr>
          <p:spPr>
            <a:xfrm>
              <a:off x="1022959" y="3510940"/>
              <a:ext cx="7264400" cy="584433"/>
            </a:xfrm>
            <a:prstGeom prst="rect">
              <a:avLst/>
            </a:prstGeom>
          </p:spPr>
          <p:txBody>
            <a:bodyPr lIns="0" tIns="0" rIns="0" bIns="0" rtlCol="0" anchor="t">
              <a:spAutoFit/>
            </a:bodyPr>
            <a:lstStyle/>
            <a:p>
              <a:pPr marL="0" lvl="0" indent="0" algn="l">
                <a:lnSpc>
                  <a:spcPts val="3359"/>
                </a:lnSpc>
                <a:spcBef>
                  <a:spcPct val="0"/>
                </a:spcBef>
              </a:pPr>
              <a:endParaRPr lang="en-US" sz="4000" b="1" u="none" strike="noStrike">
                <a:solidFill>
                  <a:srgbClr val="A3C1F5"/>
                </a:solidFill>
                <a:latin typeface="Helvetica World Bold"/>
                <a:ea typeface="Helvetica World Bold"/>
                <a:cs typeface="Helvetica World Bold"/>
              </a:endParaRPr>
            </a:p>
          </p:txBody>
        </p:sp>
        <p:sp>
          <p:nvSpPr>
            <p:cNvPr id="5" name="TextBox 5">
              <a:extLst>
                <a:ext uri="{FF2B5EF4-FFF2-40B4-BE49-F238E27FC236}">
                  <a16:creationId xmlns:a16="http://schemas.microsoft.com/office/drawing/2014/main" id="{66AE0B71-37BC-3317-AE42-B5710AEB271C}"/>
                </a:ext>
              </a:extLst>
            </p:cNvPr>
            <p:cNvSpPr txBox="1"/>
            <p:nvPr/>
          </p:nvSpPr>
          <p:spPr>
            <a:xfrm>
              <a:off x="1022959" y="5597774"/>
              <a:ext cx="9790481" cy="496547"/>
            </a:xfrm>
            <a:prstGeom prst="rect">
              <a:avLst/>
            </a:prstGeom>
          </p:spPr>
          <p:txBody>
            <a:bodyPr wrap="square" lIns="0" tIns="0" rIns="0" bIns="0" rtlCol="0" anchor="t">
              <a:spAutoFit/>
            </a:bodyPr>
            <a:lstStyle/>
            <a:p>
              <a:pPr marL="0" lvl="0" indent="0" algn="l">
                <a:lnSpc>
                  <a:spcPts val="2837"/>
                </a:lnSpc>
                <a:spcBef>
                  <a:spcPct val="0"/>
                </a:spcBef>
              </a:pPr>
              <a:endParaRPr lang="en-US" sz="3200" u="none" strike="noStrike">
                <a:solidFill>
                  <a:srgbClr val="FFFFFF"/>
                </a:solidFill>
                <a:latin typeface="Helvetica World"/>
                <a:ea typeface="Helvetica World"/>
                <a:cs typeface="Helvetica World"/>
              </a:endParaRPr>
            </a:p>
          </p:txBody>
        </p:sp>
      </p:grpSp>
      <p:grpSp>
        <p:nvGrpSpPr>
          <p:cNvPr id="7" name="Group 7">
            <a:extLst>
              <a:ext uri="{FF2B5EF4-FFF2-40B4-BE49-F238E27FC236}">
                <a16:creationId xmlns:a16="http://schemas.microsoft.com/office/drawing/2014/main" id="{09495C9C-35E7-53C4-EEA4-FE13C1F6BE56}"/>
              </a:ext>
            </a:extLst>
          </p:cNvPr>
          <p:cNvGrpSpPr/>
          <p:nvPr/>
        </p:nvGrpSpPr>
        <p:grpSpPr>
          <a:xfrm>
            <a:off x="1228335" y="2865002"/>
            <a:ext cx="7248912" cy="1865497"/>
            <a:chOff x="-14067636" y="2099556"/>
            <a:chExt cx="8152153" cy="1179834"/>
          </a:xfrm>
        </p:grpSpPr>
        <p:sp>
          <p:nvSpPr>
            <p:cNvPr id="8" name="TextBox 8">
              <a:extLst>
                <a:ext uri="{FF2B5EF4-FFF2-40B4-BE49-F238E27FC236}">
                  <a16:creationId xmlns:a16="http://schemas.microsoft.com/office/drawing/2014/main" id="{0AE4F3ED-035C-F016-C69D-8D172C8BC5B8}"/>
                </a:ext>
              </a:extLst>
            </p:cNvPr>
            <p:cNvSpPr txBox="1"/>
            <p:nvPr/>
          </p:nvSpPr>
          <p:spPr>
            <a:xfrm>
              <a:off x="-13408791" y="2099556"/>
              <a:ext cx="7264401" cy="277219"/>
            </a:xfrm>
            <a:prstGeom prst="rect">
              <a:avLst/>
            </a:prstGeom>
          </p:spPr>
          <p:txBody>
            <a:bodyPr lIns="0" tIns="0" rIns="0" bIns="0" rtlCol="0" anchor="t">
              <a:spAutoFit/>
            </a:bodyPr>
            <a:lstStyle/>
            <a:p>
              <a:pPr marL="0" lvl="0" indent="0" algn="l">
                <a:lnSpc>
                  <a:spcPts val="3359"/>
                </a:lnSpc>
                <a:spcBef>
                  <a:spcPct val="0"/>
                </a:spcBef>
              </a:pPr>
              <a:endParaRPr lang="en-US" sz="4000" b="1" u="none" strike="noStrike">
                <a:solidFill>
                  <a:srgbClr val="A3C1F5"/>
                </a:solidFill>
                <a:latin typeface="Helvetica World Bold"/>
                <a:ea typeface="Helvetica World Bold"/>
                <a:cs typeface="Helvetica World Bold"/>
              </a:endParaRPr>
            </a:p>
          </p:txBody>
        </p:sp>
        <p:sp>
          <p:nvSpPr>
            <p:cNvPr id="9" name="TextBox 9">
              <a:extLst>
                <a:ext uri="{FF2B5EF4-FFF2-40B4-BE49-F238E27FC236}">
                  <a16:creationId xmlns:a16="http://schemas.microsoft.com/office/drawing/2014/main" id="{2D782A94-83C1-0A4F-A765-E7A20679C2B8}"/>
                </a:ext>
              </a:extLst>
            </p:cNvPr>
            <p:cNvSpPr txBox="1"/>
            <p:nvPr/>
          </p:nvSpPr>
          <p:spPr>
            <a:xfrm>
              <a:off x="-14067636" y="3043859"/>
              <a:ext cx="8152153" cy="235531"/>
            </a:xfrm>
            <a:prstGeom prst="rect">
              <a:avLst/>
            </a:prstGeom>
          </p:spPr>
          <p:txBody>
            <a:bodyPr wrap="square" lIns="0" tIns="0" rIns="0" bIns="0" rtlCol="0" anchor="t">
              <a:spAutoFit/>
            </a:bodyPr>
            <a:lstStyle/>
            <a:p>
              <a:pPr marL="0" lvl="0" indent="0" algn="l">
                <a:lnSpc>
                  <a:spcPts val="2837"/>
                </a:lnSpc>
                <a:spcBef>
                  <a:spcPct val="0"/>
                </a:spcBef>
              </a:pPr>
              <a:endParaRPr lang="en-US" sz="3200" u="none" strike="noStrike">
                <a:solidFill>
                  <a:srgbClr val="FFFFFF"/>
                </a:solidFill>
                <a:latin typeface="Helvetica World"/>
                <a:ea typeface="Helvetica World"/>
                <a:cs typeface="Helvetica World"/>
              </a:endParaRPr>
            </a:p>
          </p:txBody>
        </p:sp>
      </p:grpSp>
      <p:sp>
        <p:nvSpPr>
          <p:cNvPr id="11" name="TextBox 10">
            <a:extLst>
              <a:ext uri="{FF2B5EF4-FFF2-40B4-BE49-F238E27FC236}">
                <a16:creationId xmlns:a16="http://schemas.microsoft.com/office/drawing/2014/main" id="{E9DA8C98-DDC8-E432-290A-F2626A794696}"/>
              </a:ext>
            </a:extLst>
          </p:cNvPr>
          <p:cNvSpPr txBox="1"/>
          <p:nvPr/>
        </p:nvSpPr>
        <p:spPr>
          <a:xfrm>
            <a:off x="1209770" y="399026"/>
            <a:ext cx="16813600" cy="70480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a:solidFill>
                  <a:srgbClr val="FFFFFF"/>
                </a:solidFill>
                <a:ea typeface="Calibri"/>
                <a:cs typeface="Calibri"/>
              </a:rPr>
              <a:t>                      Libraries and Functions Used</a:t>
            </a:r>
          </a:p>
          <a:p>
            <a:endParaRPr lang="en-US" sz="5400" b="1">
              <a:solidFill>
                <a:srgbClr val="FFFFFF"/>
              </a:solidFill>
              <a:ea typeface="Calibri"/>
              <a:cs typeface="Calibri"/>
            </a:endParaRPr>
          </a:p>
          <a:p>
            <a:endParaRPr lang="en-US" sz="5400" b="1">
              <a:solidFill>
                <a:srgbClr val="FFFFFF"/>
              </a:solidFill>
              <a:ea typeface="Calibri"/>
              <a:cs typeface="Calibri"/>
            </a:endParaRPr>
          </a:p>
          <a:p>
            <a:endParaRPr lang="en-US" sz="3600" b="1">
              <a:solidFill>
                <a:schemeClr val="tx2">
                  <a:lumMod val="40000"/>
                  <a:lumOff val="60000"/>
                </a:schemeClr>
              </a:solidFill>
              <a:ea typeface="Calibri"/>
              <a:cs typeface="Calibri"/>
            </a:endParaRPr>
          </a:p>
          <a:p>
            <a:r>
              <a:rPr lang="en-US" sz="3600">
                <a:solidFill>
                  <a:schemeClr val="tx2">
                    <a:lumMod val="40000"/>
                    <a:lumOff val="60000"/>
                  </a:schemeClr>
                </a:solidFill>
                <a:ea typeface="Calibri"/>
                <a:cs typeface="Calibri"/>
              </a:rPr>
              <a:t>Libraries Used:</a:t>
            </a:r>
          </a:p>
          <a:p>
            <a:endParaRPr lang="en-US" sz="3600">
              <a:solidFill>
                <a:schemeClr val="tx2">
                  <a:lumMod val="40000"/>
                  <a:lumOff val="60000"/>
                </a:schemeClr>
              </a:solidFill>
              <a:ea typeface="Calibri"/>
              <a:cs typeface="Calibri"/>
            </a:endParaRPr>
          </a:p>
          <a:p>
            <a:r>
              <a:rPr lang="en-US" sz="3200">
                <a:solidFill>
                  <a:srgbClr val="FFFFFF"/>
                </a:solidFill>
                <a:ea typeface="Calibri"/>
                <a:cs typeface="Calibri"/>
              </a:rPr>
              <a:t>• stdio.h – Input and Outputoperations</a:t>
            </a:r>
            <a:endParaRPr lang="en-US" sz="3200">
              <a:solidFill>
                <a:srgbClr val="000000"/>
              </a:solidFill>
              <a:ea typeface="Calibri"/>
              <a:cs typeface="Calibri"/>
            </a:endParaRPr>
          </a:p>
          <a:p>
            <a:r>
              <a:rPr lang="en-US" sz="3200">
                <a:solidFill>
                  <a:srgbClr val="FFFFFF"/>
                </a:solidFill>
                <a:ea typeface="Calibri"/>
                <a:cs typeface="Calibri"/>
              </a:rPr>
              <a:t>• stdlib.h – Memory allocation andsystem functions</a:t>
            </a:r>
            <a:endParaRPr lang="en-US" sz="3200">
              <a:solidFill>
                <a:srgbClr val="000000"/>
              </a:solidFill>
              <a:ea typeface="Calibri"/>
              <a:cs typeface="Calibri"/>
            </a:endParaRPr>
          </a:p>
          <a:p>
            <a:r>
              <a:rPr lang="en-US" sz="3200">
                <a:solidFill>
                  <a:srgbClr val="FFFFFF"/>
                </a:solidFill>
                <a:ea typeface="Calibri"/>
                <a:cs typeface="Calibri"/>
              </a:rPr>
              <a:t>• string.h – String handling functions</a:t>
            </a:r>
            <a:endParaRPr lang="en-US" sz="3200">
              <a:solidFill>
                <a:srgbClr val="000000"/>
              </a:solidFill>
              <a:ea typeface="Calibri"/>
              <a:cs typeface="Calibri"/>
            </a:endParaRPr>
          </a:p>
          <a:p>
            <a:r>
              <a:rPr lang="en-US" sz="3200">
                <a:solidFill>
                  <a:srgbClr val="FFFFFF"/>
                </a:solidFill>
                <a:ea typeface="Calibri"/>
                <a:cs typeface="Calibri"/>
              </a:rPr>
              <a:t>• conio.h – Console input/outputfunctions</a:t>
            </a:r>
            <a:endParaRPr lang="en-US" sz="3200">
              <a:solidFill>
                <a:srgbClr val="000000"/>
              </a:solidFill>
              <a:ea typeface="Calibri"/>
              <a:cs typeface="Calibri"/>
            </a:endParaRPr>
          </a:p>
          <a:p>
            <a:endParaRPr lang="en-US" sz="5400" b="1">
              <a:solidFill>
                <a:srgbClr val="FFFFFF"/>
              </a:solidFill>
              <a:ea typeface="Calibri"/>
              <a:cs typeface="Calibri"/>
            </a:endParaRPr>
          </a:p>
        </p:txBody>
      </p:sp>
      <p:sp>
        <p:nvSpPr>
          <p:cNvPr id="12" name="TextBox 11">
            <a:extLst>
              <a:ext uri="{FF2B5EF4-FFF2-40B4-BE49-F238E27FC236}">
                <a16:creationId xmlns:a16="http://schemas.microsoft.com/office/drawing/2014/main" id="{465128CA-CC34-664E-AA90-A150DD59BFCA}"/>
              </a:ext>
            </a:extLst>
          </p:cNvPr>
          <p:cNvSpPr txBox="1"/>
          <p:nvPr/>
        </p:nvSpPr>
        <p:spPr>
          <a:xfrm>
            <a:off x="11375132" y="2860186"/>
            <a:ext cx="781251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chemeClr val="tx2">
                    <a:lumMod val="40000"/>
                    <a:lumOff val="60000"/>
                  </a:schemeClr>
                </a:solidFill>
                <a:ea typeface="Calibri"/>
                <a:cs typeface="Calibri"/>
              </a:rPr>
              <a:t>Key Functions Implemented:</a:t>
            </a:r>
          </a:p>
          <a:p>
            <a:endParaRPr lang="en-US" sz="3600">
              <a:solidFill>
                <a:schemeClr val="tx2">
                  <a:lumMod val="40000"/>
                  <a:lumOff val="60000"/>
                </a:schemeClr>
              </a:solidFill>
              <a:ea typeface="Calibri"/>
              <a:cs typeface="Calibri"/>
            </a:endParaRPr>
          </a:p>
          <a:p>
            <a:r>
              <a:rPr lang="en-US" sz="3200">
                <a:solidFill>
                  <a:srgbClr val="FFFFFF"/>
                </a:solidFill>
                <a:ea typeface="Calibri"/>
                <a:cs typeface="Calibri"/>
              </a:rPr>
              <a:t>• createAccount()</a:t>
            </a:r>
            <a:endParaRPr lang="en-US" sz="3200">
              <a:ea typeface="Calibri"/>
              <a:cs typeface="Calibri"/>
            </a:endParaRPr>
          </a:p>
          <a:p>
            <a:r>
              <a:rPr lang="en-US" sz="3200">
                <a:solidFill>
                  <a:srgbClr val="FFFFFF"/>
                </a:solidFill>
                <a:ea typeface="Calibri"/>
                <a:cs typeface="Calibri"/>
              </a:rPr>
              <a:t>• depositMoney()</a:t>
            </a:r>
            <a:endParaRPr lang="en-US" sz="3200">
              <a:ea typeface="Calibri"/>
              <a:cs typeface="Calibri"/>
            </a:endParaRPr>
          </a:p>
          <a:p>
            <a:r>
              <a:rPr lang="en-US" sz="3200">
                <a:solidFill>
                  <a:srgbClr val="FFFFFF"/>
                </a:solidFill>
                <a:ea typeface="Calibri"/>
                <a:cs typeface="Calibri"/>
              </a:rPr>
              <a:t>• withdrawMoney()</a:t>
            </a:r>
            <a:endParaRPr lang="en-US" sz="3200">
              <a:ea typeface="Calibri"/>
              <a:cs typeface="Calibri"/>
            </a:endParaRPr>
          </a:p>
          <a:p>
            <a:r>
              <a:rPr lang="en-US" sz="3200">
                <a:solidFill>
                  <a:srgbClr val="FFFFFF"/>
                </a:solidFill>
                <a:ea typeface="Calibri"/>
                <a:cs typeface="Calibri"/>
              </a:rPr>
              <a:t>• checkBalance()</a:t>
            </a:r>
            <a:endParaRPr lang="en-US" sz="3200">
              <a:ea typeface="Calibri"/>
              <a:cs typeface="Calibri"/>
            </a:endParaRPr>
          </a:p>
          <a:p>
            <a:r>
              <a:rPr lang="en-US" sz="3200">
                <a:solidFill>
                  <a:srgbClr val="FFFFFF"/>
                </a:solidFill>
                <a:ea typeface="Calibri"/>
                <a:cs typeface="Calibri"/>
              </a:rPr>
              <a:t>• transactionHistory()</a:t>
            </a:r>
            <a:endParaRPr lang="en-US" sz="3200">
              <a:ea typeface="Calibri"/>
              <a:cs typeface="Calibri"/>
            </a:endParaRPr>
          </a:p>
          <a:p>
            <a:r>
              <a:rPr lang="en-US" sz="3200">
                <a:solidFill>
                  <a:srgbClr val="FFFFFF"/>
                </a:solidFill>
                <a:ea typeface="Calibri"/>
                <a:cs typeface="Calibri"/>
              </a:rPr>
              <a:t>• takeLoan()</a:t>
            </a:r>
            <a:endParaRPr lang="en-US" sz="3200">
              <a:ea typeface="Calibri"/>
              <a:cs typeface="Calibri"/>
            </a:endParaRPr>
          </a:p>
          <a:p>
            <a:r>
              <a:rPr lang="en-US" sz="3200">
                <a:solidFill>
                  <a:srgbClr val="FFFFFF"/>
                </a:solidFill>
                <a:ea typeface="Calibri"/>
                <a:cs typeface="Calibri"/>
              </a:rPr>
              <a:t>• payEMI()</a:t>
            </a:r>
            <a:endParaRPr lang="en-US" sz="3200">
              <a:ea typeface="Calibri"/>
              <a:cs typeface="Calibri"/>
            </a:endParaRPr>
          </a:p>
          <a:p>
            <a:r>
              <a:rPr lang="en-US" sz="3200">
                <a:solidFill>
                  <a:srgbClr val="FFFFFF"/>
                </a:solidFill>
                <a:ea typeface="Calibri"/>
                <a:cs typeface="Calibri"/>
              </a:rPr>
              <a:t>• adminLogin()</a:t>
            </a:r>
            <a:endParaRPr lang="en-US" sz="3200">
              <a:ea typeface="Calibri"/>
              <a:cs typeface="Calibri"/>
            </a:endParaRPr>
          </a:p>
          <a:p>
            <a:r>
              <a:rPr lang="en-US" sz="3200">
                <a:solidFill>
                  <a:srgbClr val="FFFFFF"/>
                </a:solidFill>
                <a:ea typeface="Calibri"/>
                <a:cs typeface="Calibri"/>
              </a:rPr>
              <a:t>• lockAccount()</a:t>
            </a:r>
            <a:endParaRPr lang="en-US" sz="3200">
              <a:ea typeface="Calibri"/>
              <a:cs typeface="Calibri"/>
            </a:endParaRPr>
          </a:p>
          <a:p>
            <a:pPr algn="l"/>
            <a:endParaRPr lang="en-US">
              <a:ea typeface="Calibri"/>
              <a:cs typeface="Calibri"/>
            </a:endParaRPr>
          </a:p>
        </p:txBody>
      </p:sp>
    </p:spTree>
    <p:extLst>
      <p:ext uri="{BB962C8B-B14F-4D97-AF65-F5344CB8AC3E}">
        <p14:creationId xmlns:p14="http://schemas.microsoft.com/office/powerpoint/2010/main" val="20353390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grpSp>
        <p:nvGrpSpPr>
          <p:cNvPr id="5" name="Group 5"/>
          <p:cNvGrpSpPr/>
          <p:nvPr/>
        </p:nvGrpSpPr>
        <p:grpSpPr>
          <a:xfrm>
            <a:off x="10926856" y="576075"/>
            <a:ext cx="8287402" cy="8209896"/>
            <a:chOff x="0" y="13571"/>
            <a:chExt cx="11049869" cy="10946529"/>
          </a:xfrm>
        </p:grpSpPr>
        <p:sp>
          <p:nvSpPr>
            <p:cNvPr id="6" name="TextBox 6"/>
            <p:cNvSpPr txBox="1"/>
            <p:nvPr/>
          </p:nvSpPr>
          <p:spPr>
            <a:xfrm>
              <a:off x="0" y="13571"/>
              <a:ext cx="11049869" cy="2934523"/>
            </a:xfrm>
            <a:prstGeom prst="rect">
              <a:avLst/>
            </a:prstGeom>
          </p:spPr>
          <p:txBody>
            <a:bodyPr wrap="square"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Core Functionalities</a:t>
              </a:r>
            </a:p>
          </p:txBody>
        </p:sp>
        <p:sp>
          <p:nvSpPr>
            <p:cNvPr id="7" name="TextBox 7"/>
            <p:cNvSpPr txBox="1"/>
            <p:nvPr/>
          </p:nvSpPr>
          <p:spPr>
            <a:xfrm>
              <a:off x="0" y="3733376"/>
              <a:ext cx="9588500" cy="7226724"/>
            </a:xfrm>
            <a:prstGeom prst="rect">
              <a:avLst/>
            </a:prstGeom>
          </p:spPr>
          <p:txBody>
            <a:bodyPr lIns="0" tIns="0" rIns="0" bIns="0" rtlCol="0" anchor="t">
              <a:spAutoFit/>
            </a:bodyPr>
            <a:lstStyle/>
            <a:p>
              <a:pPr>
                <a:lnSpc>
                  <a:spcPts val="3919"/>
                </a:lnSpc>
              </a:pPr>
              <a:r>
                <a:rPr lang="en-US" sz="2750">
                  <a:solidFill>
                    <a:srgbClr val="FFFFFF"/>
                  </a:solidFill>
                  <a:latin typeface="Helvetica World"/>
                  <a:ea typeface="Helvetica World"/>
                  <a:cs typeface="Helvetica World"/>
                  <a:sym typeface="Helvetica World"/>
                </a:rPr>
                <a:t>The Bank Management System implements several key functionalities that enhance user experience and operational efficiency. Users can create new bank accounts, deposit and withdraw money, check account balances, and view detailed transaction histories, take loans, pay Emi. These features are designed to provide a comprehensive simulation of real-world banking operations, enabling users to practice and understand essential financial processes effectively.</a:t>
              </a:r>
            </a:p>
          </p:txBody>
        </p:sp>
      </p:grpSp>
      <p:pic>
        <p:nvPicPr>
          <p:cNvPr id="2" name="Picture 1" descr="A two circular images of a person at a computer&#10;&#10;AI-generated content may be incorrect.">
            <a:extLst>
              <a:ext uri="{FF2B5EF4-FFF2-40B4-BE49-F238E27FC236}">
                <a16:creationId xmlns:a16="http://schemas.microsoft.com/office/drawing/2014/main" id="{917D7FB9-501B-F8D1-FFE5-8EAACBAD9A70}"/>
              </a:ext>
            </a:extLst>
          </p:cNvPr>
          <p:cNvPicPr>
            <a:picLocks noChangeAspect="1"/>
          </p:cNvPicPr>
          <p:nvPr/>
        </p:nvPicPr>
        <p:blipFill>
          <a:blip r:embed="rId2"/>
          <a:stretch>
            <a:fillRect/>
          </a:stretch>
        </p:blipFill>
        <p:spPr>
          <a:xfrm>
            <a:off x="635374" y="1460126"/>
            <a:ext cx="9335621" cy="733313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a:extLst>
            <a:ext uri="{FF2B5EF4-FFF2-40B4-BE49-F238E27FC236}">
              <a16:creationId xmlns:a16="http://schemas.microsoft.com/office/drawing/2014/main" id="{5B344970-437B-E286-C321-6FDBE019F8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B7C48A-9A45-E44E-87DC-F5ACEB56F458}"/>
              </a:ext>
            </a:extLst>
          </p:cNvPr>
          <p:cNvSpPr txBox="1"/>
          <p:nvPr/>
        </p:nvSpPr>
        <p:spPr>
          <a:xfrm>
            <a:off x="1017740" y="242692"/>
            <a:ext cx="9144000"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baseline="0">
                <a:solidFill>
                  <a:schemeClr val="bg1"/>
                </a:solidFill>
                <a:latin typeface="Calibri"/>
              </a:rPr>
              <a:t>System Design – Bank Management System</a:t>
            </a:r>
            <a:endParaRPr lang="en-US">
              <a:solidFill>
                <a:schemeClr val="bg1"/>
              </a:solidFill>
            </a:endParaRPr>
          </a:p>
          <a:p>
            <a:pPr algn="ctr"/>
            <a:endParaRPr lang="en-US"/>
          </a:p>
        </p:txBody>
      </p:sp>
      <p:sp>
        <p:nvSpPr>
          <p:cNvPr id="6" name="TextBox 5">
            <a:extLst>
              <a:ext uri="{FF2B5EF4-FFF2-40B4-BE49-F238E27FC236}">
                <a16:creationId xmlns:a16="http://schemas.microsoft.com/office/drawing/2014/main" id="{3EB31ECE-5BF3-48B9-FFBA-C3ED7B960ED3}"/>
              </a:ext>
            </a:extLst>
          </p:cNvPr>
          <p:cNvSpPr txBox="1"/>
          <p:nvPr/>
        </p:nvSpPr>
        <p:spPr>
          <a:xfrm>
            <a:off x="1017740" y="2090281"/>
            <a:ext cx="6263014" cy="80021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3200" baseline="0">
                <a:solidFill>
                  <a:schemeClr val="bg1"/>
                </a:solidFill>
                <a:latin typeface="Calibri"/>
                <a:ea typeface="Segoe UI"/>
                <a:cs typeface="Segoe UI"/>
              </a:rPr>
              <a:t>1. Overall Architecture:</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Main Menu →User/Admin →Dashboard →Operations</a:t>
            </a:r>
            <a:r>
              <a:rPr lang="en-US" sz="3200">
                <a:solidFill>
                  <a:schemeClr val="bg1"/>
                </a:solidFill>
                <a:latin typeface="Calibri"/>
                <a:ea typeface="Segoe UI"/>
                <a:cs typeface="Segoe UI"/>
              </a:rPr>
              <a:t>​</a:t>
            </a:r>
          </a:p>
          <a:p>
            <a:pPr rtl="0"/>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2. Module Design:</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User Module(Withdraw, Loan, </a:t>
            </a:r>
            <a:r>
              <a:rPr lang="en-US" sz="3200" baseline="0" err="1">
                <a:solidFill>
                  <a:schemeClr val="bg1"/>
                </a:solidFill>
                <a:latin typeface="Calibri"/>
                <a:ea typeface="Segoe UI"/>
                <a:cs typeface="Segoe UI"/>
              </a:rPr>
              <a:t>EMI,History</a:t>
            </a:r>
            <a:r>
              <a:rPr lang="en-US" sz="3200" baseline="0">
                <a:solidFill>
                  <a:schemeClr val="bg1"/>
                </a:solidFill>
                <a:latin typeface="Calibri"/>
                <a:ea typeface="Segoe UI"/>
                <a:cs typeface="Segoe UI"/>
              </a:rPr>
              <a:t>)</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Admin Module (</a:t>
            </a:r>
            <a:r>
              <a:rPr lang="en-US" sz="3200" baseline="0" err="1">
                <a:solidFill>
                  <a:schemeClr val="bg1"/>
                </a:solidFill>
                <a:latin typeface="Calibri"/>
                <a:ea typeface="Segoe UI"/>
                <a:cs typeface="Segoe UI"/>
              </a:rPr>
              <a:t>View,Deposit</a:t>
            </a:r>
            <a:r>
              <a:rPr lang="en-US" sz="3200" baseline="0">
                <a:solidFill>
                  <a:schemeClr val="bg1"/>
                </a:solidFill>
                <a:latin typeface="Calibri"/>
                <a:ea typeface="Segoe UI"/>
                <a:cs typeface="Segoe UI"/>
              </a:rPr>
              <a:t>, </a:t>
            </a:r>
            <a:r>
              <a:rPr lang="en-US" sz="3200" baseline="0" err="1">
                <a:solidFill>
                  <a:schemeClr val="bg1"/>
                </a:solidFill>
                <a:latin typeface="Calibri"/>
                <a:ea typeface="Segoe UI"/>
                <a:cs typeface="Segoe UI"/>
              </a:rPr>
              <a:t>Reports,Register</a:t>
            </a:r>
            <a:r>
              <a:rPr lang="en-US" sz="3200" baseline="0">
                <a:solidFill>
                  <a:schemeClr val="bg1"/>
                </a:solidFill>
                <a:latin typeface="Calibri"/>
                <a:ea typeface="Segoe UI"/>
                <a:cs typeface="Segoe UI"/>
              </a:rPr>
              <a:t>)</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Utility Functions(</a:t>
            </a:r>
            <a:r>
              <a:rPr lang="en-US" sz="3200" baseline="0" err="1">
                <a:solidFill>
                  <a:schemeClr val="bg1"/>
                </a:solidFill>
                <a:latin typeface="Calibri"/>
                <a:ea typeface="Segoe UI"/>
                <a:cs typeface="Segoe UI"/>
              </a:rPr>
              <a:t>findUser,addTransaction</a:t>
            </a:r>
            <a:r>
              <a:rPr lang="en-US" sz="3200" baseline="0">
                <a:solidFill>
                  <a:schemeClr val="bg1"/>
                </a:solidFill>
                <a:latin typeface="Calibri"/>
                <a:ea typeface="Segoe UI"/>
                <a:cs typeface="Segoe UI"/>
              </a:rPr>
              <a:t>)</a:t>
            </a:r>
            <a:r>
              <a:rPr lang="en-US" sz="3200">
                <a:solidFill>
                  <a:schemeClr val="bg1"/>
                </a:solidFill>
                <a:latin typeface="Calibri"/>
                <a:ea typeface="Segoe UI"/>
                <a:cs typeface="Segoe UI"/>
              </a:rPr>
              <a:t>​</a:t>
            </a:r>
          </a:p>
          <a:p>
            <a:pPr rtl="0"/>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3. Security Design:</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a:t>
            </a:r>
            <a:r>
              <a:rPr lang="en-US" sz="3200" baseline="0" err="1">
                <a:solidFill>
                  <a:schemeClr val="bg1"/>
                </a:solidFill>
                <a:latin typeface="Calibri"/>
                <a:ea typeface="Segoe UI"/>
                <a:cs typeface="Segoe UI"/>
              </a:rPr>
              <a:t>PasswordAuthentication</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a:t>
            </a:r>
            <a:r>
              <a:rPr lang="en-US" sz="3200">
                <a:solidFill>
                  <a:schemeClr val="bg1"/>
                </a:solidFill>
                <a:latin typeface="Calibri"/>
                <a:ea typeface="Segoe UI"/>
                <a:cs typeface="Segoe UI"/>
              </a:rPr>
              <a:t>Wrong</a:t>
            </a:r>
            <a:r>
              <a:rPr lang="en-US" sz="3200" baseline="0">
                <a:solidFill>
                  <a:schemeClr val="bg1"/>
                </a:solidFill>
                <a:latin typeface="Calibri"/>
                <a:ea typeface="Segoe UI"/>
                <a:cs typeface="Segoe UI"/>
              </a:rPr>
              <a:t> Attempts →Account Lock</a:t>
            </a:r>
            <a:r>
              <a:rPr lang="en-US" sz="4800">
                <a:latin typeface="Calibri"/>
                <a:ea typeface="Segoe UI"/>
                <a:cs typeface="Segoe UI"/>
              </a:rPr>
              <a:t>​</a:t>
            </a:r>
          </a:p>
          <a:p>
            <a:pPr algn="ctr"/>
            <a:endParaRPr lang="en-US"/>
          </a:p>
        </p:txBody>
      </p:sp>
      <p:sp>
        <p:nvSpPr>
          <p:cNvPr id="7" name="TextBox 6">
            <a:extLst>
              <a:ext uri="{FF2B5EF4-FFF2-40B4-BE49-F238E27FC236}">
                <a16:creationId xmlns:a16="http://schemas.microsoft.com/office/drawing/2014/main" id="{E94231B4-1788-83E3-0B98-DBF779E7A066}"/>
              </a:ext>
            </a:extLst>
          </p:cNvPr>
          <p:cNvSpPr txBox="1"/>
          <p:nvPr/>
        </p:nvSpPr>
        <p:spPr>
          <a:xfrm>
            <a:off x="9566754" y="2246856"/>
            <a:ext cx="5229618" cy="57861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3200" baseline="0">
                <a:solidFill>
                  <a:schemeClr val="bg1"/>
                </a:solidFill>
                <a:latin typeface="Calibri"/>
                <a:ea typeface="Segoe UI"/>
                <a:cs typeface="Segoe UI"/>
              </a:rPr>
              <a:t>4. Data StructureDesign:</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struct Account:</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accNo, name,password</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balance, loanAmount,emi</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loanActive, locked</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transactions,transCount</a:t>
            </a:r>
            <a:r>
              <a:rPr lang="en-US" sz="3200">
                <a:solidFill>
                  <a:schemeClr val="bg1"/>
                </a:solidFill>
                <a:latin typeface="Calibri"/>
                <a:ea typeface="Segoe UI"/>
                <a:cs typeface="Segoe UI"/>
              </a:rPr>
              <a:t>​</a:t>
            </a:r>
          </a:p>
          <a:p>
            <a:pPr rtl="0"/>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5. Loan &amp; EMI Logic:</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Loan ≤ 2 × Balance</a:t>
            </a:r>
            <a:r>
              <a:rPr lang="en-US" sz="3200">
                <a:solidFill>
                  <a:schemeClr val="bg1"/>
                </a:solidFill>
                <a:latin typeface="Calibri"/>
                <a:ea typeface="Segoe UI"/>
                <a:cs typeface="Segoe UI"/>
              </a:rPr>
              <a:t>​</a:t>
            </a:r>
          </a:p>
          <a:p>
            <a:pPr rtl="0"/>
            <a:r>
              <a:rPr lang="en-US" sz="3200" baseline="0">
                <a:solidFill>
                  <a:schemeClr val="bg1"/>
                </a:solidFill>
                <a:latin typeface="Calibri"/>
                <a:ea typeface="Segoe UI"/>
                <a:cs typeface="Segoe UI"/>
              </a:rPr>
              <a:t>• EMI = (Loan/10) + 5%Interest</a:t>
            </a:r>
            <a:r>
              <a:rPr lang="en-US" sz="3200">
                <a:solidFill>
                  <a:schemeClr val="bg1"/>
                </a:solidFill>
                <a:latin typeface="Calibri"/>
                <a:ea typeface="Segoe UI"/>
                <a:cs typeface="Segoe UI"/>
              </a:rPr>
              <a:t>​</a:t>
            </a:r>
          </a:p>
          <a:p>
            <a:pPr algn="ctr"/>
            <a:endParaRPr lang="en-US"/>
          </a:p>
        </p:txBody>
      </p:sp>
    </p:spTree>
    <p:extLst>
      <p:ext uri="{BB962C8B-B14F-4D97-AF65-F5344CB8AC3E}">
        <p14:creationId xmlns:p14="http://schemas.microsoft.com/office/powerpoint/2010/main" val="22452557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11506200" cy="1077595"/>
          </a:xfrm>
          <a:prstGeom prst="rect">
            <a:avLst/>
          </a:prstGeom>
        </p:spPr>
        <p:txBody>
          <a:bodyPr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Program Flow</a:t>
            </a:r>
          </a:p>
        </p:txBody>
      </p:sp>
      <p:grpSp>
        <p:nvGrpSpPr>
          <p:cNvPr id="3" name="Group 3"/>
          <p:cNvGrpSpPr/>
          <p:nvPr/>
        </p:nvGrpSpPr>
        <p:grpSpPr>
          <a:xfrm>
            <a:off x="12157292" y="4173190"/>
            <a:ext cx="5448301" cy="2322769"/>
            <a:chOff x="-20877" y="-4881497"/>
            <a:chExt cx="7264401" cy="3097026"/>
          </a:xfrm>
        </p:grpSpPr>
        <p:sp>
          <p:nvSpPr>
            <p:cNvPr id="4" name="TextBox 4"/>
            <p:cNvSpPr txBox="1"/>
            <p:nvPr/>
          </p:nvSpPr>
          <p:spPr>
            <a:xfrm>
              <a:off x="-20876" y="-4881497"/>
              <a:ext cx="7264400" cy="581356"/>
            </a:xfrm>
            <a:prstGeom prst="rect">
              <a:avLst/>
            </a:prstGeom>
          </p:spPr>
          <p:txBody>
            <a:bodyPr lIns="0" tIns="0" rIns="0" bIns="0" rtlCol="0" anchor="t">
              <a:spAutoFit/>
            </a:bodyPr>
            <a:lstStyle/>
            <a:p>
              <a:pPr marL="0" lvl="0" indent="0" algn="l">
                <a:lnSpc>
                  <a:spcPts val="3359"/>
                </a:lnSpc>
                <a:spcBef>
                  <a:spcPct val="0"/>
                </a:spcBef>
              </a:pPr>
              <a:r>
                <a:rPr lang="en-US" sz="3200" b="1" u="none" strike="noStrike">
                  <a:solidFill>
                    <a:srgbClr val="A3C1F5"/>
                  </a:solidFill>
                  <a:latin typeface="Helvetica World Bold"/>
                  <a:ea typeface="Helvetica World Bold"/>
                  <a:cs typeface="Helvetica World Bold"/>
                  <a:sym typeface="Helvetica World Bold"/>
                </a:rPr>
                <a:t>User Input</a:t>
              </a:r>
            </a:p>
          </p:txBody>
        </p:sp>
        <p:sp>
          <p:nvSpPr>
            <p:cNvPr id="5" name="TextBox 5"/>
            <p:cNvSpPr txBox="1"/>
            <p:nvPr/>
          </p:nvSpPr>
          <p:spPr>
            <a:xfrm>
              <a:off x="-20877" y="-4109894"/>
              <a:ext cx="7264400" cy="2325423"/>
            </a:xfrm>
            <a:prstGeom prst="rect">
              <a:avLst/>
            </a:prstGeom>
          </p:spPr>
          <p:txBody>
            <a:bodyPr lIns="0" tIns="0" rIns="0" bIns="0" rtlCol="0" anchor="t">
              <a:spAutoFit/>
            </a:bodyPr>
            <a:lstStyle/>
            <a:p>
              <a:pPr marL="0" lvl="0" indent="0" algn="l">
                <a:lnSpc>
                  <a:spcPts val="3359"/>
                </a:lnSpc>
                <a:spcBef>
                  <a:spcPct val="0"/>
                </a:spcBef>
              </a:pPr>
              <a:r>
                <a:rPr lang="en-US" sz="2800" u="none" strike="noStrike">
                  <a:solidFill>
                    <a:srgbClr val="FFFFFF"/>
                  </a:solidFill>
                  <a:latin typeface="Helvetica World"/>
                  <a:ea typeface="Helvetica World"/>
                  <a:cs typeface="Helvetica World"/>
                  <a:sym typeface="Helvetica World"/>
                </a:rPr>
                <a:t>It then takes user input to select an option, ensuring the program responds accordingly to each choice.</a:t>
              </a:r>
            </a:p>
          </p:txBody>
        </p:sp>
      </p:grpSp>
      <p:sp>
        <p:nvSpPr>
          <p:cNvPr id="6" name="TextBox 6"/>
          <p:cNvSpPr txBox="1"/>
          <p:nvPr/>
        </p:nvSpPr>
        <p:spPr>
          <a:xfrm>
            <a:off x="11032168" y="4174560"/>
            <a:ext cx="585578" cy="434340"/>
          </a:xfrm>
          <a:prstGeom prst="rect">
            <a:avLst/>
          </a:prstGeom>
        </p:spPr>
        <p:txBody>
          <a:bodyPr lIns="0" tIns="0" rIns="0" bIns="0" rtlCol="0" anchor="t">
            <a:spAutoFit/>
          </a:bodyPr>
          <a:lstStyle/>
          <a:p>
            <a:pPr algn="l">
              <a:lnSpc>
                <a:spcPts val="3359"/>
              </a:lnSpc>
            </a:pPr>
            <a:r>
              <a:rPr lang="en-US" sz="2400" b="1">
                <a:solidFill>
                  <a:srgbClr val="A3C1F5"/>
                </a:solidFill>
                <a:latin typeface="Helvetica World Bold"/>
                <a:ea typeface="Helvetica World Bold"/>
                <a:cs typeface="Helvetica World Bold"/>
                <a:sym typeface="Helvetica World Bold"/>
              </a:rPr>
              <a:t>02</a:t>
            </a:r>
          </a:p>
        </p:txBody>
      </p:sp>
      <p:grpSp>
        <p:nvGrpSpPr>
          <p:cNvPr id="7" name="Group 7"/>
          <p:cNvGrpSpPr/>
          <p:nvPr/>
        </p:nvGrpSpPr>
        <p:grpSpPr>
          <a:xfrm>
            <a:off x="12157292" y="1941207"/>
            <a:ext cx="5448300" cy="1883624"/>
            <a:chOff x="0" y="-38100"/>
            <a:chExt cx="7264400" cy="2511499"/>
          </a:xfrm>
        </p:grpSpPr>
        <p:sp>
          <p:nvSpPr>
            <p:cNvPr id="8" name="TextBox 8"/>
            <p:cNvSpPr txBox="1"/>
            <p:nvPr/>
          </p:nvSpPr>
          <p:spPr>
            <a:xfrm>
              <a:off x="0" y="-38100"/>
              <a:ext cx="7264400" cy="581356"/>
            </a:xfrm>
            <a:prstGeom prst="rect">
              <a:avLst/>
            </a:prstGeom>
          </p:spPr>
          <p:txBody>
            <a:bodyPr lIns="0" tIns="0" rIns="0" bIns="0" rtlCol="0" anchor="t">
              <a:spAutoFit/>
            </a:bodyPr>
            <a:lstStyle/>
            <a:p>
              <a:pPr marL="0" lvl="0" indent="0" algn="l">
                <a:lnSpc>
                  <a:spcPts val="3359"/>
                </a:lnSpc>
                <a:spcBef>
                  <a:spcPct val="0"/>
                </a:spcBef>
              </a:pPr>
              <a:r>
                <a:rPr lang="en-US" sz="3200" b="1" u="none" strike="noStrike">
                  <a:solidFill>
                    <a:srgbClr val="A3C1F5"/>
                  </a:solidFill>
                  <a:latin typeface="Helvetica World Bold"/>
                  <a:ea typeface="Helvetica World Bold"/>
                  <a:cs typeface="Helvetica World Bold"/>
                  <a:sym typeface="Helvetica World Bold"/>
                </a:rPr>
                <a:t>Display Menu</a:t>
              </a:r>
              <a:endParaRPr lang="en-US" sz="3200" b="1" u="none" strike="noStrike">
                <a:solidFill>
                  <a:srgbClr val="A3C1F5"/>
                </a:solidFill>
                <a:latin typeface="Helvetica World Bold"/>
                <a:ea typeface="Helvetica World Bold"/>
                <a:cs typeface="Helvetica World Bold"/>
              </a:endParaRPr>
            </a:p>
          </p:txBody>
        </p:sp>
        <p:sp>
          <p:nvSpPr>
            <p:cNvPr id="9" name="TextBox 9"/>
            <p:cNvSpPr txBox="1"/>
            <p:nvPr/>
          </p:nvSpPr>
          <p:spPr>
            <a:xfrm>
              <a:off x="0" y="754380"/>
              <a:ext cx="7264400" cy="1719019"/>
            </a:xfrm>
            <a:prstGeom prst="rect">
              <a:avLst/>
            </a:prstGeom>
          </p:spPr>
          <p:txBody>
            <a:bodyPr lIns="0" tIns="0" rIns="0" bIns="0" rtlCol="0" anchor="t">
              <a:spAutoFit/>
            </a:bodyPr>
            <a:lstStyle/>
            <a:p>
              <a:pPr marL="0" lvl="0" indent="0" algn="l">
                <a:lnSpc>
                  <a:spcPts val="3359"/>
                </a:lnSpc>
                <a:spcBef>
                  <a:spcPct val="0"/>
                </a:spcBef>
              </a:pPr>
              <a:r>
                <a:rPr lang="en-US" sz="2800" u="none" strike="noStrike">
                  <a:solidFill>
                    <a:srgbClr val="FFFFFF"/>
                  </a:solidFill>
                  <a:latin typeface="Helvetica World"/>
                  <a:ea typeface="Helvetica World"/>
                  <a:cs typeface="Helvetica World"/>
                  <a:sym typeface="Helvetica World"/>
                </a:rPr>
                <a:t>The program first displays a menu with options for users to choose from, guiding their actions.</a:t>
              </a:r>
            </a:p>
          </p:txBody>
        </p:sp>
      </p:grpSp>
      <p:sp>
        <p:nvSpPr>
          <p:cNvPr id="10" name="TextBox 10"/>
          <p:cNvSpPr txBox="1"/>
          <p:nvPr/>
        </p:nvSpPr>
        <p:spPr>
          <a:xfrm>
            <a:off x="11032168" y="1942578"/>
            <a:ext cx="585578" cy="434340"/>
          </a:xfrm>
          <a:prstGeom prst="rect">
            <a:avLst/>
          </a:prstGeom>
        </p:spPr>
        <p:txBody>
          <a:bodyPr lIns="0" tIns="0" rIns="0" bIns="0" rtlCol="0" anchor="t">
            <a:spAutoFit/>
          </a:bodyPr>
          <a:lstStyle/>
          <a:p>
            <a:pPr algn="l">
              <a:lnSpc>
                <a:spcPts val="3359"/>
              </a:lnSpc>
            </a:pPr>
            <a:r>
              <a:rPr lang="en-US" sz="2400" b="1">
                <a:solidFill>
                  <a:srgbClr val="A3C1F5"/>
                </a:solidFill>
                <a:latin typeface="Helvetica World Bold"/>
                <a:ea typeface="Helvetica World Bold"/>
                <a:cs typeface="Helvetica World Bold"/>
                <a:sym typeface="Helvetica World Bold"/>
              </a:rPr>
              <a:t>01</a:t>
            </a:r>
          </a:p>
        </p:txBody>
      </p:sp>
      <p:pic>
        <p:nvPicPr>
          <p:cNvPr id="11" name="Picture 10" descr="A diagram of a software system&#10;&#10;AI-generated content may be incorrect.">
            <a:extLst>
              <a:ext uri="{FF2B5EF4-FFF2-40B4-BE49-F238E27FC236}">
                <a16:creationId xmlns:a16="http://schemas.microsoft.com/office/drawing/2014/main" id="{91F831A2-B3CA-404F-DDDA-2AFF26903229}"/>
              </a:ext>
            </a:extLst>
          </p:cNvPr>
          <p:cNvPicPr>
            <a:picLocks noChangeAspect="1"/>
          </p:cNvPicPr>
          <p:nvPr/>
        </p:nvPicPr>
        <p:blipFill>
          <a:blip r:embed="rId2"/>
          <a:stretch>
            <a:fillRect/>
          </a:stretch>
        </p:blipFill>
        <p:spPr>
          <a:xfrm>
            <a:off x="1106338" y="1933724"/>
            <a:ext cx="8031191" cy="7497857"/>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11506200" cy="1077595"/>
          </a:xfrm>
          <a:prstGeom prst="rect">
            <a:avLst/>
          </a:prstGeom>
        </p:spPr>
        <p:txBody>
          <a:bodyPr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Important Functions</a:t>
            </a:r>
          </a:p>
        </p:txBody>
      </p:sp>
      <p:grpSp>
        <p:nvGrpSpPr>
          <p:cNvPr id="3" name="Group 3"/>
          <p:cNvGrpSpPr/>
          <p:nvPr/>
        </p:nvGrpSpPr>
        <p:grpSpPr>
          <a:xfrm>
            <a:off x="263338" y="2322700"/>
            <a:ext cx="4010025" cy="3589452"/>
            <a:chOff x="-537883" y="-2567266"/>
            <a:chExt cx="5346700" cy="4785936"/>
          </a:xfrm>
        </p:grpSpPr>
        <p:sp>
          <p:nvSpPr>
            <p:cNvPr id="4" name="TextBox 4"/>
            <p:cNvSpPr txBox="1"/>
            <p:nvPr/>
          </p:nvSpPr>
          <p:spPr>
            <a:xfrm>
              <a:off x="-537883" y="-2567266"/>
              <a:ext cx="5346700" cy="618888"/>
            </a:xfrm>
            <a:prstGeom prst="rect">
              <a:avLst/>
            </a:prstGeom>
          </p:spPr>
          <p:txBody>
            <a:bodyPr lIns="0" tIns="0" rIns="0" bIns="0" rtlCol="0" anchor="t">
              <a:spAutoFit/>
            </a:bodyPr>
            <a:lstStyle/>
            <a:p>
              <a:pPr>
                <a:lnSpc>
                  <a:spcPts val="3919"/>
                </a:lnSpc>
              </a:pPr>
              <a:r>
                <a:rPr lang="en-US" sz="3200" b="1">
                  <a:solidFill>
                    <a:srgbClr val="A3C1F5"/>
                  </a:solidFill>
                  <a:latin typeface="Helvetica World Bold"/>
                  <a:ea typeface="Helvetica World Bold"/>
                  <a:cs typeface="Helvetica World Bold"/>
                  <a:sym typeface="Helvetica World Bold"/>
                </a:rPr>
                <a:t>Find Account</a:t>
              </a:r>
              <a:endParaRPr lang="en-US" sz="3200" b="1" err="1">
                <a:solidFill>
                  <a:srgbClr val="A3C1F5"/>
                </a:solidFill>
                <a:latin typeface="Helvetica World Bold"/>
                <a:ea typeface="Helvetica World Bold"/>
                <a:cs typeface="Helvetica World Bold"/>
              </a:endParaRPr>
            </a:p>
          </p:txBody>
        </p:sp>
        <p:sp>
          <p:nvSpPr>
            <p:cNvPr id="5" name="TextBox 5"/>
            <p:cNvSpPr txBox="1"/>
            <p:nvPr/>
          </p:nvSpPr>
          <p:spPr>
            <a:xfrm>
              <a:off x="-537883" y="-1736003"/>
              <a:ext cx="4562291" cy="3954673"/>
            </a:xfrm>
            <a:prstGeom prst="rect">
              <a:avLst/>
            </a:prstGeom>
          </p:spPr>
          <p:txBody>
            <a:bodyPr wrap="square" lIns="0" tIns="0" rIns="0" bIns="0" rtlCol="0" anchor="t">
              <a:spAutoFit/>
            </a:bodyPr>
            <a:lstStyle/>
            <a:p>
              <a:pPr marL="0" lvl="0" indent="0" algn="l">
                <a:lnSpc>
                  <a:spcPts val="3919"/>
                </a:lnSpc>
              </a:pPr>
              <a:r>
                <a:rPr lang="en-US" sz="2800">
                  <a:solidFill>
                    <a:srgbClr val="FFFFFF"/>
                  </a:solidFill>
                  <a:latin typeface="Helvetica World"/>
                  <a:ea typeface="Helvetica World"/>
                  <a:cs typeface="Helvetica World"/>
                  <a:sym typeface="Helvetica World"/>
                </a:rPr>
                <a:t>This function searches for an account using the unique account number provided by the user.</a:t>
              </a:r>
            </a:p>
          </p:txBody>
        </p:sp>
      </p:grpSp>
      <p:grpSp>
        <p:nvGrpSpPr>
          <p:cNvPr id="6" name="Group 6"/>
          <p:cNvGrpSpPr/>
          <p:nvPr/>
        </p:nvGrpSpPr>
        <p:grpSpPr>
          <a:xfrm>
            <a:off x="4772586" y="2322700"/>
            <a:ext cx="3825129" cy="2488326"/>
            <a:chOff x="-918882" y="-2567268"/>
            <a:chExt cx="6579347" cy="3317769"/>
          </a:xfrm>
        </p:grpSpPr>
        <p:sp>
          <p:nvSpPr>
            <p:cNvPr id="7" name="TextBox 7"/>
            <p:cNvSpPr txBox="1"/>
            <p:nvPr/>
          </p:nvSpPr>
          <p:spPr>
            <a:xfrm>
              <a:off x="-918882" y="-2567268"/>
              <a:ext cx="5346699" cy="618888"/>
            </a:xfrm>
            <a:prstGeom prst="rect">
              <a:avLst/>
            </a:prstGeom>
          </p:spPr>
          <p:txBody>
            <a:bodyPr lIns="0" tIns="0" rIns="0" bIns="0" rtlCol="0" anchor="t">
              <a:spAutoFit/>
            </a:bodyPr>
            <a:lstStyle/>
            <a:p>
              <a:pPr marL="0" lvl="0" indent="0" algn="l">
                <a:lnSpc>
                  <a:spcPts val="3919"/>
                </a:lnSpc>
              </a:pPr>
              <a:r>
                <a:rPr lang="en-US" sz="3200" b="1">
                  <a:solidFill>
                    <a:srgbClr val="A3C1F5"/>
                  </a:solidFill>
                  <a:latin typeface="Helvetica World Bold"/>
                  <a:ea typeface="Helvetica World Bold"/>
                  <a:cs typeface="Helvetica World Bold"/>
                  <a:sym typeface="Helvetica World Bold"/>
                </a:rPr>
                <a:t>Deposit</a:t>
              </a:r>
            </a:p>
          </p:txBody>
        </p:sp>
        <p:sp>
          <p:nvSpPr>
            <p:cNvPr id="8" name="TextBox 8"/>
            <p:cNvSpPr txBox="1"/>
            <p:nvPr/>
          </p:nvSpPr>
          <p:spPr>
            <a:xfrm>
              <a:off x="-918881" y="-1870474"/>
              <a:ext cx="6579346" cy="2620975"/>
            </a:xfrm>
            <a:prstGeom prst="rect">
              <a:avLst/>
            </a:prstGeom>
          </p:spPr>
          <p:txBody>
            <a:bodyPr wrap="square" lIns="0" tIns="0" rIns="0" bIns="0" rtlCol="0" anchor="t">
              <a:spAutoFit/>
            </a:bodyPr>
            <a:lstStyle/>
            <a:p>
              <a:pPr marL="0" lvl="0" indent="0" algn="l">
                <a:lnSpc>
                  <a:spcPts val="3919"/>
                </a:lnSpc>
              </a:pPr>
              <a:r>
                <a:rPr lang="en-US" sz="2800">
                  <a:solidFill>
                    <a:srgbClr val="FFFFFF"/>
                  </a:solidFill>
                  <a:latin typeface="Helvetica World"/>
                  <a:ea typeface="Helvetica World"/>
                  <a:cs typeface="Helvetica World"/>
                  <a:sym typeface="Helvetica World"/>
                </a:rPr>
                <a:t>The deposit function increases the account balance after validating the transaction details provided.</a:t>
              </a:r>
              <a:endParaRPr lang="en-US" sz="2800">
                <a:solidFill>
                  <a:srgbClr val="FFFFFF"/>
                </a:solidFill>
                <a:latin typeface="Helvetica World"/>
                <a:ea typeface="Helvetica World"/>
                <a:cs typeface="Helvetica World"/>
              </a:endParaRPr>
            </a:p>
          </p:txBody>
        </p:sp>
      </p:grpSp>
      <p:sp>
        <p:nvSpPr>
          <p:cNvPr id="10" name="TextBox 10"/>
          <p:cNvSpPr txBox="1"/>
          <p:nvPr/>
        </p:nvSpPr>
        <p:spPr>
          <a:xfrm>
            <a:off x="9466729" y="2322700"/>
            <a:ext cx="4010025" cy="464166"/>
          </a:xfrm>
          <a:prstGeom prst="rect">
            <a:avLst/>
          </a:prstGeom>
        </p:spPr>
        <p:txBody>
          <a:bodyPr lIns="0" tIns="0" rIns="0" bIns="0" rtlCol="0" anchor="t">
            <a:spAutoFit/>
          </a:bodyPr>
          <a:lstStyle/>
          <a:p>
            <a:pPr marL="0" lvl="0" indent="0" algn="l">
              <a:lnSpc>
                <a:spcPts val="3919"/>
              </a:lnSpc>
            </a:pPr>
            <a:r>
              <a:rPr lang="en-US" sz="3200" b="1">
                <a:solidFill>
                  <a:srgbClr val="A3C1F5"/>
                </a:solidFill>
                <a:latin typeface="Helvetica World Bold"/>
                <a:ea typeface="Helvetica World Bold"/>
                <a:cs typeface="Helvetica World Bold"/>
                <a:sym typeface="Helvetica World Bold"/>
              </a:rPr>
              <a:t>withdraw</a:t>
            </a:r>
          </a:p>
        </p:txBody>
      </p:sp>
      <p:sp>
        <p:nvSpPr>
          <p:cNvPr id="13" name="TextBox 12">
            <a:extLst>
              <a:ext uri="{FF2B5EF4-FFF2-40B4-BE49-F238E27FC236}">
                <a16:creationId xmlns:a16="http://schemas.microsoft.com/office/drawing/2014/main" id="{834F08A0-57F2-22F6-D63F-EAB186F09422}"/>
              </a:ext>
            </a:extLst>
          </p:cNvPr>
          <p:cNvSpPr txBox="1"/>
          <p:nvPr/>
        </p:nvSpPr>
        <p:spPr>
          <a:xfrm>
            <a:off x="9030590" y="2877188"/>
            <a:ext cx="499832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bg1"/>
                </a:solidFill>
                <a:ea typeface="Calibri"/>
                <a:cs typeface="Calibri"/>
              </a:rPr>
              <a:t>This function allow user to withdraw money while ensuring sufficient balance is maintained or not.</a:t>
            </a:r>
            <a:endParaRPr lang="en-US" sz="2800">
              <a:solidFill>
                <a:schemeClr val="bg1"/>
              </a:solidFill>
            </a:endParaRPr>
          </a:p>
        </p:txBody>
      </p:sp>
      <p:sp>
        <p:nvSpPr>
          <p:cNvPr id="14" name="TextBox 13">
            <a:extLst>
              <a:ext uri="{FF2B5EF4-FFF2-40B4-BE49-F238E27FC236}">
                <a16:creationId xmlns:a16="http://schemas.microsoft.com/office/drawing/2014/main" id="{27B315C9-100E-2C7F-39EB-8CAE2ACF5589}"/>
              </a:ext>
            </a:extLst>
          </p:cNvPr>
          <p:cNvSpPr txBox="1"/>
          <p:nvPr/>
        </p:nvSpPr>
        <p:spPr>
          <a:xfrm>
            <a:off x="14411134" y="2322689"/>
            <a:ext cx="325521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chemeClr val="tx2">
                    <a:lumMod val="40000"/>
                    <a:lumOff val="60000"/>
                  </a:schemeClr>
                </a:solidFill>
                <a:ea typeface="+mn-lt"/>
                <a:cs typeface="+mn-lt"/>
              </a:rPr>
              <a:t>Loan Application</a:t>
            </a:r>
          </a:p>
          <a:p>
            <a:r>
              <a:rPr lang="en-US" sz="2800">
                <a:solidFill>
                  <a:schemeClr val="bg1"/>
                </a:solidFill>
                <a:ea typeface="+mn-lt"/>
                <a:cs typeface="+mn-lt"/>
              </a:rPr>
              <a:t>Allows users to request loans based on eligibility (Loan ≤ 2× account balance)</a:t>
            </a:r>
            <a:endParaRPr lang="en-US" sz="2800">
              <a:solidFill>
                <a:schemeClr val="bg1"/>
              </a:solidFill>
            </a:endParaRPr>
          </a:p>
        </p:txBody>
      </p:sp>
      <p:sp>
        <p:nvSpPr>
          <p:cNvPr id="16" name="TextBox 15">
            <a:extLst>
              <a:ext uri="{FF2B5EF4-FFF2-40B4-BE49-F238E27FC236}">
                <a16:creationId xmlns:a16="http://schemas.microsoft.com/office/drawing/2014/main" id="{D2E35422-96D6-9998-C131-0527B603E91D}"/>
              </a:ext>
            </a:extLst>
          </p:cNvPr>
          <p:cNvSpPr txBox="1"/>
          <p:nvPr/>
        </p:nvSpPr>
        <p:spPr>
          <a:xfrm>
            <a:off x="268941" y="6908426"/>
            <a:ext cx="4000500"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chemeClr val="tx2">
                    <a:lumMod val="40000"/>
                    <a:lumOff val="60000"/>
                  </a:schemeClr>
                </a:solidFill>
              </a:rPr>
              <a:t>EMI Payment</a:t>
            </a:r>
          </a:p>
          <a:p>
            <a:br>
              <a:rPr lang="en-US"/>
            </a:br>
            <a:r>
              <a:rPr lang="en-US" sz="2800">
                <a:solidFill>
                  <a:schemeClr val="bg1"/>
                </a:solidFill>
              </a:rPr>
              <a:t>Deducts EMI from account balance and updates remaining loan amount.</a:t>
            </a:r>
            <a:endParaRPr lang="en-US" sz="2800">
              <a:solidFill>
                <a:schemeClr val="bg1"/>
              </a:solidFill>
              <a:ea typeface="Calibri"/>
              <a:cs typeface="Calibri"/>
            </a:endParaRPr>
          </a:p>
          <a:p>
            <a:pPr algn="ctr"/>
            <a:endParaRPr lang="en-US"/>
          </a:p>
        </p:txBody>
      </p:sp>
      <p:sp>
        <p:nvSpPr>
          <p:cNvPr id="17" name="TextBox 16">
            <a:extLst>
              <a:ext uri="{FF2B5EF4-FFF2-40B4-BE49-F238E27FC236}">
                <a16:creationId xmlns:a16="http://schemas.microsoft.com/office/drawing/2014/main" id="{35EE9773-429E-B56A-53A8-F554C26AE9AA}"/>
              </a:ext>
            </a:extLst>
          </p:cNvPr>
          <p:cNvSpPr txBox="1"/>
          <p:nvPr/>
        </p:nvSpPr>
        <p:spPr>
          <a:xfrm>
            <a:off x="4771581" y="6901028"/>
            <a:ext cx="3822249" cy="3200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chemeClr val="tx2">
                    <a:lumMod val="40000"/>
                    <a:lumOff val="60000"/>
                  </a:schemeClr>
                </a:solidFill>
                <a:ea typeface="+mn-lt"/>
                <a:cs typeface="+mn-lt"/>
              </a:rPr>
              <a:t>Admin Authentication</a:t>
            </a:r>
            <a:br>
              <a:rPr lang="en-US" b="1">
                <a:solidFill>
                  <a:schemeClr val="bg1"/>
                </a:solidFill>
                <a:ea typeface="+mn-lt"/>
                <a:cs typeface="+mn-lt"/>
              </a:rPr>
            </a:br>
            <a:r>
              <a:rPr lang="en-US" sz="2800" b="1">
                <a:solidFill>
                  <a:schemeClr val="bg1"/>
                </a:solidFill>
                <a:ea typeface="+mn-lt"/>
                <a:cs typeface="+mn-lt"/>
              </a:rPr>
              <a:t> Provides secure access to administrative operations using admin credentials.</a:t>
            </a:r>
            <a:endParaRPr lang="en-US" sz="2800">
              <a:solidFill>
                <a:schemeClr val="bg1"/>
              </a:solidFill>
              <a:ea typeface="Calibri"/>
              <a:cs typeface="Calibri"/>
            </a:endParaRPr>
          </a:p>
          <a:p>
            <a:pPr algn="l"/>
            <a:endParaRPr lang="en-US">
              <a:ea typeface="Calibri"/>
              <a:cs typeface="Calibri"/>
            </a:endParaRPr>
          </a:p>
        </p:txBody>
      </p:sp>
      <p:sp>
        <p:nvSpPr>
          <p:cNvPr id="18" name="TextBox 17">
            <a:extLst>
              <a:ext uri="{FF2B5EF4-FFF2-40B4-BE49-F238E27FC236}">
                <a16:creationId xmlns:a16="http://schemas.microsoft.com/office/drawing/2014/main" id="{D0BBFF7B-7892-BE11-04C2-52213B8D40C2}"/>
              </a:ext>
            </a:extLst>
          </p:cNvPr>
          <p:cNvSpPr txBox="1"/>
          <p:nvPr/>
        </p:nvSpPr>
        <p:spPr>
          <a:xfrm>
            <a:off x="8811688" y="6901029"/>
            <a:ext cx="4116269"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chemeClr val="tx2">
                    <a:lumMod val="40000"/>
                    <a:lumOff val="60000"/>
                  </a:schemeClr>
                </a:solidFill>
                <a:ea typeface="+mn-lt"/>
                <a:cs typeface="+mn-lt"/>
              </a:rPr>
              <a:t>Transaction History</a:t>
            </a:r>
            <a:br>
              <a:rPr lang="en-US" b="1">
                <a:ea typeface="+mn-lt"/>
                <a:cs typeface="+mn-lt"/>
              </a:rPr>
            </a:br>
            <a:r>
              <a:rPr lang="en-US" b="1">
                <a:solidFill>
                  <a:schemeClr val="bg1"/>
                </a:solidFill>
                <a:ea typeface="+mn-lt"/>
                <a:cs typeface="+mn-lt"/>
              </a:rPr>
              <a:t> </a:t>
            </a:r>
            <a:r>
              <a:rPr lang="en-US" sz="2800" b="1">
                <a:solidFill>
                  <a:schemeClr val="bg1"/>
                </a:solidFill>
                <a:ea typeface="+mn-lt"/>
                <a:cs typeface="+mn-lt"/>
              </a:rPr>
              <a:t>Stores and displays all user transactions including deposits, withdrawals, and loan activities.</a:t>
            </a:r>
            <a:endParaRPr lang="en-US" sz="2800">
              <a:solidFill>
                <a:schemeClr val="bg1"/>
              </a:solidFill>
              <a:ea typeface="Calibri"/>
              <a:cs typeface="Calibri"/>
            </a:endParaRPr>
          </a:p>
          <a:p>
            <a:pPr algn="l"/>
            <a:endParaRPr lang="en-US">
              <a:ea typeface="Calibri"/>
              <a:cs typeface="Calibri"/>
            </a:endParaRPr>
          </a:p>
        </p:txBody>
      </p:sp>
      <p:sp>
        <p:nvSpPr>
          <p:cNvPr id="19" name="TextBox 18">
            <a:extLst>
              <a:ext uri="{FF2B5EF4-FFF2-40B4-BE49-F238E27FC236}">
                <a16:creationId xmlns:a16="http://schemas.microsoft.com/office/drawing/2014/main" id="{7EAC17A4-BE80-EDAD-0F32-8FBA8686E356}"/>
              </a:ext>
            </a:extLst>
          </p:cNvPr>
          <p:cNvSpPr txBox="1"/>
          <p:nvPr/>
        </p:nvSpPr>
        <p:spPr>
          <a:xfrm>
            <a:off x="13688432" y="6758017"/>
            <a:ext cx="3633237"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chemeClr val="tx2">
                    <a:lumMod val="40000"/>
                    <a:lumOff val="60000"/>
                  </a:schemeClr>
                </a:solidFill>
                <a:ea typeface="+mn-lt"/>
                <a:cs typeface="+mn-lt"/>
              </a:rPr>
              <a:t>Account Lock System</a:t>
            </a:r>
            <a:endParaRPr lang="en-US" sz="3600">
              <a:solidFill>
                <a:schemeClr val="tx2">
                  <a:lumMod val="40000"/>
                  <a:lumOff val="60000"/>
                </a:schemeClr>
              </a:solidFill>
            </a:endParaRPr>
          </a:p>
          <a:p>
            <a:r>
              <a:rPr lang="en-US" sz="2800" b="1">
                <a:ea typeface="+mn-lt"/>
                <a:cs typeface="+mn-lt"/>
              </a:rPr>
              <a:t> </a:t>
            </a:r>
            <a:r>
              <a:rPr lang="en-US" sz="2800" b="1">
                <a:solidFill>
                  <a:schemeClr val="bg1"/>
                </a:solidFill>
                <a:ea typeface="+mn-lt"/>
                <a:cs typeface="+mn-lt"/>
              </a:rPr>
              <a:t>Locks the account automatically after 3 incorrect password attempts to enhance security.</a:t>
            </a:r>
            <a:endParaRPr lang="en-US" sz="2800">
              <a:solidFill>
                <a:schemeClr val="bg1"/>
              </a:solidFill>
              <a:ea typeface="Calibri"/>
              <a:cs typeface="Calibri"/>
            </a:endParaRPr>
          </a:p>
          <a:p>
            <a:pPr algn="l"/>
            <a:endParaRPr lang="en-US">
              <a:ea typeface="Calibri"/>
              <a:cs typeface="Calibri"/>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grpSp>
        <p:nvGrpSpPr>
          <p:cNvPr id="2" name="Group 2"/>
          <p:cNvGrpSpPr/>
          <p:nvPr/>
        </p:nvGrpSpPr>
        <p:grpSpPr>
          <a:xfrm>
            <a:off x="280148" y="1121"/>
            <a:ext cx="7037854" cy="12923573"/>
            <a:chOff x="-201705" y="76200"/>
            <a:chExt cx="9383805" cy="17231439"/>
          </a:xfrm>
        </p:grpSpPr>
        <p:sp>
          <p:nvSpPr>
            <p:cNvPr id="3" name="TextBox 3"/>
            <p:cNvSpPr txBox="1"/>
            <p:nvPr/>
          </p:nvSpPr>
          <p:spPr>
            <a:xfrm>
              <a:off x="0" y="76200"/>
              <a:ext cx="9182100" cy="1462193"/>
            </a:xfrm>
            <a:prstGeom prst="rect">
              <a:avLst/>
            </a:prstGeom>
          </p:spPr>
          <p:txBody>
            <a:bodyPr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Advantages</a:t>
              </a:r>
            </a:p>
          </p:txBody>
        </p:sp>
        <p:sp>
          <p:nvSpPr>
            <p:cNvPr id="4" name="TextBox 4"/>
            <p:cNvSpPr txBox="1"/>
            <p:nvPr/>
          </p:nvSpPr>
          <p:spPr>
            <a:xfrm>
              <a:off x="-201705" y="1568451"/>
              <a:ext cx="9169400" cy="15739188"/>
            </a:xfrm>
            <a:prstGeom prst="rect">
              <a:avLst/>
            </a:prstGeom>
          </p:spPr>
          <p:txBody>
            <a:bodyPr wrap="square" lIns="0" tIns="0" rIns="0" bIns="0" rtlCol="0" anchor="t">
              <a:spAutoFit/>
            </a:bodyPr>
            <a:lstStyle/>
            <a:p>
              <a:r>
                <a:rPr lang="en-US" sz="3200">
                  <a:solidFill>
                    <a:schemeClr val="tx2">
                      <a:lumMod val="40000"/>
                      <a:lumOff val="60000"/>
                    </a:schemeClr>
                  </a:solidFill>
                </a:rPr>
                <a:t>1. Secure Authentication System</a:t>
              </a:r>
            </a:p>
            <a:p>
              <a:r>
                <a:rPr lang="en-US" sz="3200">
                  <a:solidFill>
                    <a:srgbClr val="FFFFFF"/>
                  </a:solidFill>
                  <a:ea typeface="+mn-lt"/>
                  <a:cs typeface="+mn-lt"/>
                </a:rPr>
                <a:t>Implements password-based login with automatic account locking after 3 incorrect attempts.</a:t>
              </a:r>
              <a:endParaRPr lang="en-US"/>
            </a:p>
            <a:p>
              <a:pPr marL="0" lvl="0" indent="0" algn="l"/>
              <a:endParaRPr lang="en-US" sz="3200">
                <a:solidFill>
                  <a:schemeClr val="tx2">
                    <a:lumMod val="40000"/>
                    <a:lumOff val="60000"/>
                  </a:schemeClr>
                </a:solidFill>
                <a:latin typeface="Calibri"/>
                <a:ea typeface="Calibri"/>
                <a:cs typeface="Calibri"/>
              </a:endParaRPr>
            </a:p>
            <a:p>
              <a:r>
                <a:rPr lang="en-US" sz="3200">
                  <a:solidFill>
                    <a:schemeClr val="tx2">
                      <a:lumMod val="40000"/>
                      <a:lumOff val="60000"/>
                    </a:schemeClr>
                  </a:solidFill>
                </a:rPr>
                <a:t>2.Separate Admin Control</a:t>
              </a:r>
              <a:endParaRPr lang="en-US" sz="3200">
                <a:solidFill>
                  <a:schemeClr val="tx2">
                    <a:lumMod val="40000"/>
                    <a:lumOff val="60000"/>
                  </a:schemeClr>
                </a:solidFill>
                <a:ea typeface="Calibri"/>
                <a:cs typeface="Calibri"/>
              </a:endParaRPr>
            </a:p>
            <a:p>
              <a:r>
                <a:rPr lang="en-US" sz="3200">
                  <a:solidFill>
                    <a:srgbClr val="FFFFFF"/>
                  </a:solidFill>
                  <a:ea typeface="+mn-lt"/>
                  <a:cs typeface="+mn-lt"/>
                </a:rPr>
                <a:t>Provides dedicated admin panel for monitoring accounts and managing deposits.</a:t>
              </a:r>
              <a:endParaRPr lang="en-US"/>
            </a:p>
            <a:p>
              <a:endParaRPr lang="en-US" sz="3200">
                <a:solidFill>
                  <a:srgbClr val="FFFFFF"/>
                </a:solidFill>
                <a:latin typeface="Calibri"/>
                <a:ea typeface="Calibri"/>
                <a:cs typeface="Calibri"/>
              </a:endParaRPr>
            </a:p>
            <a:p>
              <a:r>
                <a:rPr lang="en-US" sz="3200">
                  <a:solidFill>
                    <a:schemeClr val="tx2">
                      <a:lumMod val="40000"/>
                      <a:lumOff val="60000"/>
                    </a:schemeClr>
                  </a:solidFill>
                </a:rPr>
                <a:t>3. Loan &amp; EMI Management</a:t>
              </a:r>
              <a:endParaRPr lang="en-US" sz="3200">
                <a:solidFill>
                  <a:schemeClr val="tx2">
                    <a:lumMod val="40000"/>
                    <a:lumOff val="60000"/>
                  </a:schemeClr>
                </a:solidFill>
                <a:ea typeface="Calibri"/>
                <a:cs typeface="Calibri"/>
              </a:endParaRPr>
            </a:p>
            <a:p>
              <a:r>
                <a:rPr lang="en-US" sz="3200">
                  <a:solidFill>
                    <a:srgbClr val="FFFFFF"/>
                  </a:solidFill>
                  <a:ea typeface="+mn-lt"/>
                  <a:cs typeface="+mn-lt"/>
                </a:rPr>
                <a:t>Supports loan approval, EMI calculation, and repayment simulation similar to real banking systems.</a:t>
              </a:r>
              <a:endParaRPr lang="en-US"/>
            </a:p>
            <a:p>
              <a:endParaRPr lang="en-US" sz="3200">
                <a:solidFill>
                  <a:srgbClr val="FFFFFF"/>
                </a:solidFill>
                <a:latin typeface="Calibri"/>
                <a:ea typeface="Calibri"/>
                <a:cs typeface="Calibri"/>
              </a:endParaRPr>
            </a:p>
            <a:p>
              <a:r>
                <a:rPr lang="en-US" sz="3200">
                  <a:solidFill>
                    <a:srgbClr val="FFFFFF"/>
                  </a:solidFill>
                  <a:latin typeface="Calibri"/>
                  <a:ea typeface="Calibri"/>
                  <a:cs typeface="Calibri"/>
                </a:rPr>
                <a:t>4</a:t>
              </a:r>
              <a:r>
                <a:rPr lang="en-US" sz="3200">
                  <a:solidFill>
                    <a:srgbClr val="FFFFFF"/>
                  </a:solidFill>
                </a:rPr>
                <a:t>.</a:t>
              </a:r>
              <a:r>
                <a:rPr lang="en-US"/>
                <a:t>. </a:t>
              </a:r>
              <a:r>
                <a:rPr lang="en-US" sz="3200">
                  <a:solidFill>
                    <a:schemeClr val="tx2">
                      <a:lumMod val="40000"/>
                      <a:lumOff val="60000"/>
                    </a:schemeClr>
                  </a:solidFill>
                </a:rPr>
                <a:t>Structured Programming Approach</a:t>
              </a:r>
              <a:endParaRPr lang="en-US" sz="3200">
                <a:solidFill>
                  <a:schemeClr val="tx2">
                    <a:lumMod val="40000"/>
                    <a:lumOff val="60000"/>
                  </a:schemeClr>
                </a:solidFill>
                <a:latin typeface="Calibri"/>
                <a:ea typeface="Calibri"/>
                <a:cs typeface="Calibri"/>
              </a:endParaRPr>
            </a:p>
            <a:p>
              <a:r>
                <a:rPr lang="en-US" sz="3200">
                  <a:solidFill>
                    <a:srgbClr val="FFFFFF"/>
                  </a:solidFill>
                  <a:ea typeface="+mn-lt"/>
                  <a:cs typeface="+mn-lt"/>
                </a:rPr>
                <a:t>Uses structures, arrays, and modular functions for organized and maintainable code.</a:t>
              </a:r>
              <a:endParaRPr lang="en-US"/>
            </a:p>
            <a:p>
              <a:endParaRPr lang="en-US" sz="3200">
                <a:solidFill>
                  <a:srgbClr val="FFFFFF"/>
                </a:solidFill>
                <a:latin typeface="Calibri"/>
                <a:ea typeface="Calibri"/>
                <a:cs typeface="Calibri"/>
              </a:endParaRPr>
            </a:p>
            <a:p>
              <a:endParaRPr lang="en-US" sz="3200">
                <a:solidFill>
                  <a:srgbClr val="FFFFFF"/>
                </a:solidFill>
                <a:latin typeface="Calibri"/>
                <a:ea typeface="Calibri"/>
                <a:cs typeface="Calibri"/>
              </a:endParaRPr>
            </a:p>
            <a:p>
              <a:endParaRPr lang="en-US" sz="3200">
                <a:solidFill>
                  <a:srgbClr val="FFFFFF"/>
                </a:solidFill>
                <a:latin typeface="Calibri"/>
                <a:ea typeface="Calibri"/>
                <a:cs typeface="Calibri"/>
              </a:endParaRPr>
            </a:p>
            <a:p>
              <a:endParaRPr lang="en-US" sz="3200">
                <a:solidFill>
                  <a:srgbClr val="FFFFFF"/>
                </a:solidFill>
                <a:latin typeface="Calibri"/>
                <a:ea typeface="Calibri"/>
                <a:cs typeface="Calibri"/>
              </a:endParaRPr>
            </a:p>
            <a:p>
              <a:pPr>
                <a:lnSpc>
                  <a:spcPts val="3919"/>
                </a:lnSpc>
              </a:pPr>
              <a:endParaRPr lang="en-US" sz="3200">
                <a:solidFill>
                  <a:srgbClr val="FFFFFF"/>
                </a:solidFill>
                <a:latin typeface="Helvetica World"/>
                <a:ea typeface="Helvetica World"/>
                <a:cs typeface="Helvetica World"/>
              </a:endParaRPr>
            </a:p>
          </p:txBody>
        </p:sp>
      </p:grpSp>
      <p:grpSp>
        <p:nvGrpSpPr>
          <p:cNvPr id="6" name="Group 6"/>
          <p:cNvGrpSpPr/>
          <p:nvPr/>
        </p:nvGrpSpPr>
        <p:grpSpPr>
          <a:xfrm>
            <a:off x="9582152" y="-7079501"/>
            <a:ext cx="13651834" cy="16342550"/>
            <a:chOff x="-201702" y="2101879"/>
            <a:chExt cx="18202444" cy="21790068"/>
          </a:xfrm>
        </p:grpSpPr>
        <p:sp>
          <p:nvSpPr>
            <p:cNvPr id="9" name="TextBox 9"/>
            <p:cNvSpPr txBox="1"/>
            <p:nvPr/>
          </p:nvSpPr>
          <p:spPr>
            <a:xfrm rot="7458190">
              <a:off x="2396801" y="4645785"/>
              <a:ext cx="18147848" cy="13060035"/>
            </a:xfrm>
            <a:prstGeom prst="rect">
              <a:avLst/>
            </a:prstGeom>
          </p:spPr>
          <p:txBody>
            <a:bodyPr lIns="123349" tIns="123349" rIns="123349" bIns="123349" rtlCol="0" anchor="ctr"/>
            <a:lstStyle/>
            <a:p>
              <a:pPr marL="0" lvl="0" indent="0" algn="ctr">
                <a:lnSpc>
                  <a:spcPts val="11200"/>
                </a:lnSpc>
                <a:spcBef>
                  <a:spcPct val="0"/>
                </a:spcBef>
              </a:pPr>
              <a:endParaRPr/>
            </a:p>
          </p:txBody>
        </p:sp>
        <p:grpSp>
          <p:nvGrpSpPr>
            <p:cNvPr id="10" name="Group 10"/>
            <p:cNvGrpSpPr>
              <a:grpSpLocks noChangeAspect="1"/>
            </p:cNvGrpSpPr>
            <p:nvPr/>
          </p:nvGrpSpPr>
          <p:grpSpPr>
            <a:xfrm rot="5400000">
              <a:off x="-201726" y="12822332"/>
              <a:ext cx="11069639" cy="11069591"/>
              <a:chOff x="141421" y="115707"/>
              <a:chExt cx="6350000" cy="6349973"/>
            </a:xfrm>
          </p:grpSpPr>
          <p:sp>
            <p:nvSpPr>
              <p:cNvPr id="11" name="Freeform 11"/>
              <p:cNvSpPr/>
              <p:nvPr/>
            </p:nvSpPr>
            <p:spPr>
              <a:xfrm>
                <a:off x="141421" y="115707"/>
                <a:ext cx="6350000" cy="6349973"/>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3B78B6"/>
              </a:solidFill>
            </p:spPr>
          </p:sp>
        </p:grpSp>
        <p:grpSp>
          <p:nvGrpSpPr>
            <p:cNvPr id="12" name="Group 12"/>
            <p:cNvGrpSpPr/>
            <p:nvPr/>
          </p:nvGrpSpPr>
          <p:grpSpPr>
            <a:xfrm>
              <a:off x="943747" y="13519545"/>
              <a:ext cx="9182100" cy="918210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sp>
        </p:grpSp>
      </p:gr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77E1D36-EF09-2CC4-E6CB-AA31B569F30D}"/>
                  </a:ext>
                </a:extLst>
              </p14:cNvPr>
              <p14:cNvContentPartPr/>
              <p14:nvPr/>
            </p14:nvContentPartPr>
            <p14:xfrm>
              <a:off x="11934264" y="4042521"/>
              <a:ext cx="21011" cy="21011"/>
            </p14:xfrm>
          </p:contentPart>
        </mc:Choice>
        <mc:Fallback xmlns="">
          <p:pic>
            <p:nvPicPr>
              <p:cNvPr id="5" name="Ink 4">
                <a:extLst>
                  <a:ext uri="{FF2B5EF4-FFF2-40B4-BE49-F238E27FC236}">
                    <a16:creationId xmlns:a16="http://schemas.microsoft.com/office/drawing/2014/main" id="{477E1D36-EF09-2CC4-E6CB-AA31B569F30D}"/>
                  </a:ext>
                </a:extLst>
              </p:cNvPr>
              <p:cNvPicPr/>
              <p:nvPr/>
            </p:nvPicPr>
            <p:blipFill>
              <a:blip r:embed="rId5"/>
              <a:stretch>
                <a:fillRect/>
              </a:stretch>
            </p:blipFill>
            <p:spPr>
              <a:xfrm>
                <a:off x="10883714" y="2991971"/>
                <a:ext cx="2101100" cy="2101100"/>
              </a:xfrm>
              <a:prstGeom prst="rect">
                <a:avLst/>
              </a:prstGeom>
            </p:spPr>
          </p:pic>
        </mc:Fallback>
      </mc:AlternateContent>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grpSp>
        <p:nvGrpSpPr>
          <p:cNvPr id="5" name="Group 5"/>
          <p:cNvGrpSpPr/>
          <p:nvPr/>
        </p:nvGrpSpPr>
        <p:grpSpPr>
          <a:xfrm>
            <a:off x="9296400" y="236444"/>
            <a:ext cx="8737787" cy="10063458"/>
            <a:chOff x="0" y="-573741"/>
            <a:chExt cx="9879853" cy="13462765"/>
          </a:xfrm>
        </p:grpSpPr>
        <p:sp>
          <p:nvSpPr>
            <p:cNvPr id="6" name="TextBox 6"/>
            <p:cNvSpPr txBox="1"/>
            <p:nvPr/>
          </p:nvSpPr>
          <p:spPr>
            <a:xfrm>
              <a:off x="291353" y="-573741"/>
              <a:ext cx="9588500" cy="2834537"/>
            </a:xfrm>
            <a:prstGeom prst="rect">
              <a:avLst/>
            </a:prstGeom>
          </p:spPr>
          <p:txBody>
            <a:bodyPr lIns="0" tIns="0" rIns="0" bIns="0" rtlCol="0" anchor="t">
              <a:spAutoFit/>
            </a:bodyPr>
            <a:lstStyle/>
            <a:p>
              <a:pPr marL="0" lvl="0" indent="0" algn="l">
                <a:lnSpc>
                  <a:spcPts val="8167"/>
                </a:lnSpc>
              </a:pPr>
              <a:r>
                <a:rPr lang="en-US" sz="7425" b="1" spc="-185">
                  <a:solidFill>
                    <a:srgbClr val="FFFFFF"/>
                  </a:solidFill>
                  <a:latin typeface="Garet Bold"/>
                  <a:ea typeface="Garet Bold"/>
                  <a:cs typeface="Garet Bold"/>
                  <a:sym typeface="Garet Bold"/>
                </a:rPr>
                <a:t>Future Enhancements</a:t>
              </a:r>
              <a:endParaRPr lang="en-US" sz="7400" b="1" spc="-185">
                <a:solidFill>
                  <a:srgbClr val="FFFFFF"/>
                </a:solidFill>
                <a:latin typeface="Garet Bold"/>
                <a:ea typeface="Garet Bold"/>
                <a:cs typeface="Garet Bold"/>
              </a:endParaRPr>
            </a:p>
          </p:txBody>
        </p:sp>
        <p:sp>
          <p:nvSpPr>
            <p:cNvPr id="7" name="TextBox 7"/>
            <p:cNvSpPr txBox="1"/>
            <p:nvPr/>
          </p:nvSpPr>
          <p:spPr>
            <a:xfrm>
              <a:off x="0" y="2533625"/>
              <a:ext cx="9588500" cy="10355399"/>
            </a:xfrm>
            <a:prstGeom prst="rect">
              <a:avLst/>
            </a:prstGeom>
          </p:spPr>
          <p:txBody>
            <a:bodyPr lIns="0" tIns="0" rIns="0" bIns="0" rtlCol="0" anchor="t">
              <a:spAutoFit/>
            </a:bodyPr>
            <a:lstStyle/>
            <a:p>
              <a:pPr>
                <a:lnSpc>
                  <a:spcPts val="3821"/>
                </a:lnSpc>
              </a:pPr>
              <a:r>
                <a:rPr lang="en-US" sz="2700">
                  <a:solidFill>
                    <a:srgbClr val="FFFFFF"/>
                  </a:solidFill>
                  <a:ea typeface="+mn-lt"/>
                  <a:cs typeface="+mn-lt"/>
                </a:rPr>
                <a:t>In future, the Bank Management System can be enhanced by implementing file handling to ensure permanent data storage instead of temporary memory usage. The system can also be integrated with a database such as MySQL to support large-scale data management and improve scalability. A graphical user interface (GUI) can be developed to make the application more user-friendly and interactive. Additional features like secure fund transfer between accounts and automatic interest calculation for savings and loans can be incorporated to make the system more realistic. Furthermore, advanced security measures such as password encryption, OTP verification, and role-based access control can be implemented to enhance data protection and system reliability.</a:t>
              </a:r>
              <a:endParaRPr lang="en-US"/>
            </a:p>
          </p:txBody>
        </p:sp>
      </p:grpSp>
      <p:grpSp>
        <p:nvGrpSpPr>
          <p:cNvPr id="11" name="Group 11"/>
          <p:cNvGrpSpPr/>
          <p:nvPr/>
        </p:nvGrpSpPr>
        <p:grpSpPr>
          <a:xfrm>
            <a:off x="988127" y="1555223"/>
            <a:ext cx="6886575" cy="6886575"/>
            <a:chOff x="-934412" y="-224179"/>
            <a:chExt cx="812800" cy="812800"/>
          </a:xfrm>
        </p:grpSpPr>
        <p:sp>
          <p:nvSpPr>
            <p:cNvPr id="12" name="Freeform 12"/>
            <p:cNvSpPr/>
            <p:nvPr/>
          </p:nvSpPr>
          <p:spPr>
            <a:xfrm>
              <a:off x="-934412" y="-224179"/>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a:ln>
              <a:solidFill>
                <a:srgbClr val="FFFFFF"/>
              </a:solidFill>
            </a:ln>
          </p:spPr>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3D66"/>
        </a:solidFill>
        <a:effectLst/>
      </p:bgPr>
    </p:bg>
    <p:spTree>
      <p:nvGrpSpPr>
        <p:cNvPr id="1" name=""/>
        <p:cNvGrpSpPr/>
        <p:nvPr/>
      </p:nvGrpSpPr>
      <p:grpSpPr>
        <a:xfrm>
          <a:off x="0" y="0"/>
          <a:ext cx="0" cy="0"/>
          <a:chOff x="0" y="0"/>
          <a:chExt cx="0" cy="0"/>
        </a:xfrm>
      </p:grpSpPr>
      <p:grpSp>
        <p:nvGrpSpPr>
          <p:cNvPr id="2" name="Group 2"/>
          <p:cNvGrpSpPr/>
          <p:nvPr/>
        </p:nvGrpSpPr>
        <p:grpSpPr>
          <a:xfrm>
            <a:off x="9296400" y="666750"/>
            <a:ext cx="7191375" cy="6381750"/>
            <a:chOff x="0" y="0"/>
            <a:chExt cx="9588500" cy="8509000"/>
          </a:xfrm>
        </p:grpSpPr>
        <p:sp>
          <p:nvSpPr>
            <p:cNvPr id="3" name="TextBox 3"/>
            <p:cNvSpPr txBox="1"/>
            <p:nvPr/>
          </p:nvSpPr>
          <p:spPr>
            <a:xfrm>
              <a:off x="0" y="76200"/>
              <a:ext cx="9588500" cy="4281593"/>
            </a:xfrm>
            <a:prstGeom prst="rect">
              <a:avLst/>
            </a:prstGeom>
          </p:spPr>
          <p:txBody>
            <a:bodyPr lIns="0" tIns="0" rIns="0" bIns="0" rtlCol="0" anchor="t">
              <a:spAutoFit/>
            </a:bodyPr>
            <a:lstStyle/>
            <a:p>
              <a:pPr marL="0" lvl="0" indent="0" algn="l">
                <a:lnSpc>
                  <a:spcPts val="8359"/>
                </a:lnSpc>
              </a:pPr>
              <a:r>
                <a:rPr lang="en-US" sz="7599" b="1" spc="-189">
                  <a:solidFill>
                    <a:srgbClr val="FFFFFF"/>
                  </a:solidFill>
                  <a:latin typeface="Garet Bold"/>
                  <a:ea typeface="Garet Bold"/>
                  <a:cs typeface="Garet Bold"/>
                  <a:sym typeface="Garet Bold"/>
                </a:rPr>
                <a:t>Conclusion and Closing Remarks</a:t>
              </a:r>
            </a:p>
          </p:txBody>
        </p:sp>
        <p:sp>
          <p:nvSpPr>
            <p:cNvPr id="4" name="TextBox 4"/>
            <p:cNvSpPr txBox="1"/>
            <p:nvPr/>
          </p:nvSpPr>
          <p:spPr>
            <a:xfrm>
              <a:off x="0" y="5143076"/>
              <a:ext cx="9588500" cy="3365924"/>
            </a:xfrm>
            <a:prstGeom prst="rect">
              <a:avLst/>
            </a:prstGeom>
          </p:spPr>
          <p:txBody>
            <a:bodyPr lIns="0" tIns="0" rIns="0" bIns="0" rtlCol="0" anchor="t">
              <a:spAutoFit/>
            </a:bodyPr>
            <a:lstStyle/>
            <a:p>
              <a:pPr marL="0" lvl="0" indent="0" algn="l">
                <a:lnSpc>
                  <a:spcPts val="3919"/>
                </a:lnSpc>
              </a:pPr>
              <a:r>
                <a:rPr lang="en-US" sz="2799">
                  <a:solidFill>
                    <a:srgbClr val="FFFFFF"/>
                  </a:solidFill>
                  <a:latin typeface="Helvetica World"/>
                  <a:ea typeface="Helvetica World"/>
                  <a:cs typeface="Helvetica World"/>
                  <a:sym typeface="Helvetica World"/>
                </a:rPr>
                <a:t>In summary, the </a:t>
              </a:r>
              <a:r>
                <a:rPr lang="en-US" sz="2799" b="1">
                  <a:solidFill>
                    <a:srgbClr val="FFFFFF"/>
                  </a:solidFill>
                  <a:latin typeface="Helvetica World Bold"/>
                  <a:ea typeface="Helvetica World Bold"/>
                  <a:cs typeface="Helvetica World Bold"/>
                  <a:sym typeface="Helvetica World Bold"/>
                </a:rPr>
                <a:t>Bank Management System in C</a:t>
              </a:r>
              <a:r>
                <a:rPr lang="en-US" sz="2799">
                  <a:solidFill>
                    <a:srgbClr val="FFFFFF"/>
                  </a:solidFill>
                  <a:latin typeface="Helvetica World"/>
                  <a:ea typeface="Helvetica World"/>
                  <a:cs typeface="Helvetica World"/>
                  <a:sym typeface="Helvetica World"/>
                </a:rPr>
                <a:t> successfully showcases practical coding skills while emphasizing transaction handling and account management, paving the way for future enhancements.</a:t>
              </a:r>
            </a:p>
          </p:txBody>
        </p:sp>
      </p:grpSp>
      <p:grpSp>
        <p:nvGrpSpPr>
          <p:cNvPr id="5" name="Group 5"/>
          <p:cNvGrpSpPr/>
          <p:nvPr/>
        </p:nvGrpSpPr>
        <p:grpSpPr>
          <a:xfrm>
            <a:off x="-7507891" y="-4552660"/>
            <a:ext cx="16157652" cy="13500557"/>
            <a:chOff x="2101880" y="2333785"/>
            <a:chExt cx="21543535" cy="18000743"/>
          </a:xfrm>
        </p:grpSpPr>
        <p:sp>
          <p:nvSpPr>
            <p:cNvPr id="8" name="TextBox 8"/>
            <p:cNvSpPr txBox="1"/>
            <p:nvPr/>
          </p:nvSpPr>
          <p:spPr>
            <a:xfrm rot="2058190">
              <a:off x="2101880" y="2333785"/>
              <a:ext cx="18147847" cy="13060035"/>
            </a:xfrm>
            <a:prstGeom prst="rect">
              <a:avLst/>
            </a:prstGeom>
          </p:spPr>
          <p:txBody>
            <a:bodyPr lIns="123349" tIns="123349" rIns="123349" bIns="123349" rtlCol="0" anchor="ctr"/>
            <a:lstStyle/>
            <a:p>
              <a:pPr marL="0" lvl="0" indent="0" algn="ctr">
                <a:lnSpc>
                  <a:spcPts val="11200"/>
                </a:lnSpc>
                <a:spcBef>
                  <a:spcPct val="0"/>
                </a:spcBef>
              </a:pPr>
              <a:endParaRPr/>
            </a:p>
          </p:txBody>
        </p:sp>
        <p:grpSp>
          <p:nvGrpSpPr>
            <p:cNvPr id="9" name="Group 9"/>
            <p:cNvGrpSpPr>
              <a:grpSpLocks noChangeAspect="1"/>
            </p:cNvGrpSpPr>
            <p:nvPr/>
          </p:nvGrpSpPr>
          <p:grpSpPr>
            <a:xfrm>
              <a:off x="12575776" y="9264934"/>
              <a:ext cx="11069639" cy="11069594"/>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3B78B6"/>
              </a:solidFill>
            </p:spPr>
          </p:sp>
        </p:grpSp>
        <p:grpSp>
          <p:nvGrpSpPr>
            <p:cNvPr id="11" name="Group 11"/>
            <p:cNvGrpSpPr/>
            <p:nvPr/>
          </p:nvGrpSpPr>
          <p:grpSpPr>
            <a:xfrm>
              <a:off x="13519545" y="10208681"/>
              <a:ext cx="9182100" cy="9182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12</Slides>
  <Notes>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Bank Management System in C</dc:title>
  <dc:description>Presentation - Bank Management System in C</dc:description>
  <cp:revision>80</cp:revision>
  <dcterms:created xsi:type="dcterms:W3CDTF">2006-08-16T00:00:00Z</dcterms:created>
  <dcterms:modified xsi:type="dcterms:W3CDTF">2026-03-30T10:56:40Z</dcterms:modified>
  <dc:identifier>DAHBZbebQIg</dc:identifier>
</cp:coreProperties>
</file>